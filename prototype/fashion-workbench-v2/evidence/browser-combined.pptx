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663344"/>
          </a:solidFill>
          <a:ln w="12700">
            <a:solidFill>
              <a:srgbClr val="66334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青屿服饰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FASHION SELECTION &amp; QUOTATION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青屿服饰  /  quote-mtwdirm6-aqaoi · V16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21792" y="1508760"/>
            <a:ext cx="6720840" cy="4434840"/>
          </a:xfrm>
          <a:prstGeom prst="rect">
            <a:avLst/>
          </a:prstGeom>
          <a:solidFill>
            <a:srgbClr val="663344"/>
          </a:solidFill>
          <a:ln w="12700">
            <a:solidFill>
              <a:srgbClr val="663344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" y="1883664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为每一次采购，</a:t>
            </a:r>
            <a:endParaRPr lang="en-US" sz="3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搭配合适的选择。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950976" y="3319272"/>
            <a:ext cx="5897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森禾 · 秋季团建服装方案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950976" y="4590288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森禾企业服务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合并采购 · 按选中组合累计采购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生成日期 2026/9/11 11:05:26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71232" y="1508760"/>
            <a:ext cx="3977640" cy="4434840"/>
          </a:xfrm>
          <a:prstGeom prst="rect">
            <a:avLst/>
          </a:prstGeom>
          <a:solidFill>
            <a:srgbClr val="EAF0E7"/>
          </a:solidFill>
          <a:ln w="12700">
            <a:solidFill>
              <a:srgbClr val="EAF0E7">
                <a:alpha val="0"/>
              </a:srgbClr>
            </a:solidFill>
            <a:prstDash val="solid"/>
          </a:ln>
        </p:spPr>
      </p:sp>
      <p:pic>
        <p:nvPicPr>
          <p:cNvPr id="13" name="Image 0" descr="报价商品示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796796"/>
            <a:ext cx="3493008" cy="349300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790688" y="553212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商品与图片均为原型演示素材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15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663344"/>
          </a:solidFill>
          <a:ln w="12700">
            <a:solidFill>
              <a:srgbClr val="66334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需求与报价口径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森禾企业服务 · 报价版本 V16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青屿服饰  /  quote-mtwdirm6-aqaoi · V16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536192"/>
            <a:ext cx="10652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方案主题：森禾 · 秋季团建服装方案
采购场景：企业团建；风格：休闲；季节：四季
品类档位：1 / 2 / 3 / 4 品类；本次 4 个采购组合。各组合采购量见比较页。
采购总预算：¥50,000.00（含附加费用及适用税额，最终按对应报价模式判断）。
报价模式：合并采购 · 按选中组合累计采购。合并采购按已选组合及其采购量汇总。
币种：人民币 CNY。税费口径：含税销售价，不重复加税。
需求补充：给森禾准备100套秋季团建服装，预算每套300元。上衣、裤子、帽子和鞋，提供一到四品类的递进比较
。
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663344"/>
          </a:solidFill>
          <a:ln w="12700">
            <a:solidFill>
              <a:srgbClr val="66334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采购组合一览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下表为各组合商品金额；优惠、费用及税额仅在合并账单中计算一次。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青屿服饰  /  quote-mtwdirm6-aqaoi · V16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527048"/>
          <a:ext cx="10972800" cy="411480"/>
        </p:xfrm>
        <a:graphic>
          <a:graphicData uri="http://schemas.openxmlformats.org/drawingml/2006/table">
            <a:tbl>
              <a:tblPr/>
              <a:tblGrid>
                <a:gridCol w="2468880"/>
                <a:gridCol w="960120"/>
                <a:gridCol w="2880360"/>
                <a:gridCol w="1097280"/>
                <a:gridCol w="1783080"/>
                <a:gridCol w="1783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采购组合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每套商品均价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商品合计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4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938528"/>
          <a:ext cx="10972800" cy="393192"/>
        </p:xfrm>
        <a:graphic>
          <a:graphicData uri="http://schemas.openxmlformats.org/drawingml/2006/table">
            <a:tbl>
              <a:tblPr/>
              <a:tblGrid>
                <a:gridCol w="2468880"/>
                <a:gridCol w="960120"/>
                <a:gridCol w="2880360"/>
                <a:gridCol w="1097280"/>
                <a:gridCol w="1783080"/>
                <a:gridCol w="17830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品类 · 舒适优选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品类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¥84.00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¥840.00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331720"/>
          <a:ext cx="10972800" cy="393192"/>
        </p:xfrm>
        <a:graphic>
          <a:graphicData uri="http://schemas.openxmlformats.org/drawingml/2006/table">
            <a:tbl>
              <a:tblPr/>
              <a:tblGrid>
                <a:gridCol w="2468880"/>
                <a:gridCol w="960120"/>
                <a:gridCol w="2880360"/>
                <a:gridCol w="1097280"/>
                <a:gridCol w="1783080"/>
                <a:gridCol w="17830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品类 · 舒适优选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品类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上衣 + 裤子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¥144.00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¥1,440.00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724912"/>
          <a:ext cx="10972800" cy="393192"/>
        </p:xfrm>
        <a:graphic>
          <a:graphicData uri="http://schemas.openxmlformats.org/drawingml/2006/table">
            <a:tbl>
              <a:tblPr/>
              <a:tblGrid>
                <a:gridCol w="2468880"/>
                <a:gridCol w="960120"/>
                <a:gridCol w="2880360"/>
                <a:gridCol w="1097280"/>
                <a:gridCol w="1783080"/>
                <a:gridCol w="17830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品类 · 舒适优选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品类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上衣 + 裤子 + 帽子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¥164.00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¥1,640.00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118104"/>
          <a:ext cx="10972800" cy="393192"/>
        </p:xfrm>
        <a:graphic>
          <a:graphicData uri="http://schemas.openxmlformats.org/drawingml/2006/table">
            <a:tbl>
              <a:tblPr/>
              <a:tblGrid>
                <a:gridCol w="2468880"/>
                <a:gridCol w="960120"/>
                <a:gridCol w="2880360"/>
                <a:gridCol w="1097280"/>
                <a:gridCol w="1783080"/>
                <a:gridCol w="17830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品类 · 舒适优选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品类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上衣 + 裤子 + 帽子 + 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¥254.00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¥2,540.00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sp>
        <p:nvSpPr>
          <p:cNvPr id="13" name="Text 6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663344"/>
          </a:solidFill>
          <a:ln w="12700">
            <a:solidFill>
              <a:srgbClr val="66334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品类 · 舒适优选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品类 · 10 套 · 合并采购 · 按选中组合累计采购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青屿服饰  /  quote-mtwdirm6-aqaoi · V16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86384" y="1554480"/>
            <a:ext cx="51663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上衣 米杏珠地短袖 Po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44" y="1664208"/>
            <a:ext cx="3520440" cy="35204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32688" y="5285232"/>
            <a:ext cx="4873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上衣 · 米杏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5495544"/>
            <a:ext cx="4873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/ 尺码与金额见明细页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6291072" y="1792224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66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好搭配，</a:t>
            </a:r>
            <a:endParaRPr lang="en-US" sz="2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66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从真实商品开始。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3108960"/>
            <a:ext cx="5111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本方案采用商品原图拼版。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实际商品以 SKU 与规格明细为准。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4773168"/>
            <a:ext cx="5111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66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¥84.00</a:t>
            </a:r>
            <a:endParaRPr lang="en-US" sz="27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5358384"/>
            <a:ext cx="51114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每套商品均价 · 优惠及费用见合并账单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663344"/>
          </a:solidFill>
          <a:ln w="12700">
            <a:solidFill>
              <a:srgbClr val="66334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品类 · 舒适优选 · 搭配说明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品类 · 方案 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青屿服饰  /  quote-mtwdirm6-aqaoi · V16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536192"/>
            <a:ext cx="10652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符合企业团建 / 休闲，优先保留基础款递进；锁定项可手动解锁调整。
商品：米杏珠地短袖 Polo（米杏）
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663344"/>
          </a:solidFill>
          <a:ln w="12700">
            <a:solidFill>
              <a:srgbClr val="66334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品类 · 舒适优选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品类 · 10 套 · 合并采购 · 按选中组合累计采购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青屿服饰  /  quote-mtwdirm6-aqaoi · V16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86384" y="1554480"/>
            <a:ext cx="312724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上衣 米杏珠地短袖 Po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970532"/>
            <a:ext cx="2907792" cy="29077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32688" y="52852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上衣 · 米杏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5495544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/ 尺码与金额见明细页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133088" y="1554480"/>
            <a:ext cx="312724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裤子 苔绿直筒休闲裤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1970532"/>
            <a:ext cx="2907792" cy="290779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279392" y="52852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裤子 · 苔绿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279392" y="5495544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/ 尺码与金额见明细页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7461504" y="1792224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66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好搭配，</a:t>
            </a:r>
            <a:endParaRPr lang="en-US" sz="2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66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从真实商品开始。</a:t>
            </a:r>
            <a:endParaRPr lang="en-US" sz="2500" dirty="0"/>
          </a:p>
        </p:txBody>
      </p:sp>
      <p:sp>
        <p:nvSpPr>
          <p:cNvPr id="17" name="Text 13"/>
          <p:cNvSpPr txBox="1"/>
          <p:nvPr/>
        </p:nvSpPr>
        <p:spPr>
          <a:xfrm>
            <a:off x="7479792" y="3108960"/>
            <a:ext cx="3922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本方案采用商品原图拼版。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实际商品以 SKU 与规格明细为准。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479792" y="4773168"/>
            <a:ext cx="3922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66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¥144.00</a:t>
            </a:r>
            <a:endParaRPr lang="en-US" sz="2700" dirty="0"/>
          </a:p>
        </p:txBody>
      </p:sp>
      <p:sp>
        <p:nvSpPr>
          <p:cNvPr id="19" name="Text 15"/>
          <p:cNvSpPr txBox="1"/>
          <p:nvPr/>
        </p:nvSpPr>
        <p:spPr>
          <a:xfrm>
            <a:off x="7479792" y="5358384"/>
            <a:ext cx="39227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每套商品均价 · 优惠及费用见合并账单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663344"/>
          </a:solidFill>
          <a:ln w="12700">
            <a:solidFill>
              <a:srgbClr val="66334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品类 · 舒适优选 · 搭配说明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品类 · 方案 2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青屿服饰  /  quote-mtwdirm6-aqaoi · V16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536192"/>
            <a:ext cx="10652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符合企业团建 / 休闲，优先保留基础款递进；锁定项可手动解锁调整。
商品：米杏珠地短袖 Polo（米杏）；苔绿直筒休闲裤（苔绿）
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663344"/>
          </a:solidFill>
          <a:ln w="12700">
            <a:solidFill>
              <a:srgbClr val="66334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品类 · 舒适优选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品类 · 10 套 · 合并采购 · 按选中组合累计采购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青屿服饰  /  quote-mtwdirm6-aqaoi · V16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86384" y="1554480"/>
            <a:ext cx="3072384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上衣 米杏珠地短袖 Po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997964"/>
            <a:ext cx="2852928" cy="285292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32688" y="5285232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上衣 · 米杏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5495544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/ 尺码与金额见明细页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069080" y="1554480"/>
            <a:ext cx="3072384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裤子 苔绿直筒休闲裤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332" y="1664208"/>
            <a:ext cx="1325880" cy="13258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215384" y="3090672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裤子 · 苔绿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215384" y="3300984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/ 尺码与金额见明细页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069080" y="3721608"/>
            <a:ext cx="3072384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帽子 苔绿简约棒球帽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3831336"/>
            <a:ext cx="1353312" cy="13533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215384" y="5285232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帽子 · 苔绿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215384" y="5495544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/ 尺码与金额见明细页</a:t>
            </a:r>
            <a:endParaRPr lang="en-US" sz="850" dirty="0"/>
          </a:p>
        </p:txBody>
      </p:sp>
      <p:sp>
        <p:nvSpPr>
          <p:cNvPr id="20" name="Text 15"/>
          <p:cNvSpPr txBox="1"/>
          <p:nvPr/>
        </p:nvSpPr>
        <p:spPr>
          <a:xfrm>
            <a:off x="7461504" y="1792224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66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好搭配，</a:t>
            </a:r>
            <a:endParaRPr lang="en-US" sz="2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66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从真实商品开始。</a:t>
            </a:r>
            <a:endParaRPr lang="en-US" sz="2500" dirty="0"/>
          </a:p>
        </p:txBody>
      </p:sp>
      <p:sp>
        <p:nvSpPr>
          <p:cNvPr id="21" name="Text 16"/>
          <p:cNvSpPr txBox="1"/>
          <p:nvPr/>
        </p:nvSpPr>
        <p:spPr>
          <a:xfrm>
            <a:off x="7479792" y="3108960"/>
            <a:ext cx="3922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本方案采用商品原图拼版。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实际商品以 SKU 与规格明细为准。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479792" y="4773168"/>
            <a:ext cx="3922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66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¥164.00</a:t>
            </a:r>
            <a:endParaRPr lang="en-US" sz="2700" dirty="0"/>
          </a:p>
        </p:txBody>
      </p:sp>
      <p:sp>
        <p:nvSpPr>
          <p:cNvPr id="23" name="Text 18"/>
          <p:cNvSpPr txBox="1"/>
          <p:nvPr/>
        </p:nvSpPr>
        <p:spPr>
          <a:xfrm>
            <a:off x="7479792" y="5358384"/>
            <a:ext cx="39227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每套商品均价 · 优惠及费用见合并账单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663344"/>
          </a:solidFill>
          <a:ln w="12700">
            <a:solidFill>
              <a:srgbClr val="66334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品类 · 舒适优选 · 搭配说明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品类 · 方案 3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青屿服饰  /  quote-mtwdirm6-aqaoi · V16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536192"/>
            <a:ext cx="10652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符合企业团建 / 休闲，优先保留基础款递进；锁定项可手动解锁调整。
商品：米杏珠地短袖 Polo（米杏）；苔绿直筒休闲裤（苔绿）；苔绿简约棒球帽（苔绿）
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663344"/>
          </a:solidFill>
          <a:ln w="12700">
            <a:solidFill>
              <a:srgbClr val="66334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品类 · 舒适优选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品类 · 10 套 · 合并采购 · 按选中组合累计采购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青屿服饰  /  quote-mtwdirm6-aqaoi · V16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86384" y="1554480"/>
            <a:ext cx="3072384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上衣 米杏珠地短袖 Po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636" y="1664208"/>
            <a:ext cx="1325880" cy="13258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32688" y="3090672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上衣 · 米杏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3300984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/ 尺码与金额见明细页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069080" y="1554480"/>
            <a:ext cx="3072384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裤子 苔绿直筒休闲裤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332" y="1664208"/>
            <a:ext cx="1325880" cy="13258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215384" y="3090672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裤子 · 苔绿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215384" y="3300984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/ 尺码与金额见明细页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786384" y="3721608"/>
            <a:ext cx="3072384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帽子 苔绿简约棒球帽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831336"/>
            <a:ext cx="1353312" cy="13533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32688" y="5285232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帽子 · 苔绿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932688" y="5495544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/ 尺码与金额见明细页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4069080" y="3721608"/>
            <a:ext cx="3072384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3" descr="鞋 米白轻量休闲鞋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831336"/>
            <a:ext cx="1353312" cy="1353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215384" y="5285232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鞋 · 米白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4215384" y="5495544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/ 尺码与金额见明细页</a:t>
            </a:r>
            <a:endParaRPr lang="en-US" sz="850" dirty="0"/>
          </a:p>
        </p:txBody>
      </p:sp>
      <p:sp>
        <p:nvSpPr>
          <p:cNvPr id="24" name="Text 18"/>
          <p:cNvSpPr txBox="1"/>
          <p:nvPr/>
        </p:nvSpPr>
        <p:spPr>
          <a:xfrm>
            <a:off x="7461504" y="1792224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66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好搭配，</a:t>
            </a:r>
            <a:endParaRPr lang="en-US" sz="2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66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从真实商品开始。</a:t>
            </a:r>
            <a:endParaRPr lang="en-US" sz="2500" dirty="0"/>
          </a:p>
        </p:txBody>
      </p:sp>
      <p:sp>
        <p:nvSpPr>
          <p:cNvPr id="25" name="Text 19"/>
          <p:cNvSpPr txBox="1"/>
          <p:nvPr/>
        </p:nvSpPr>
        <p:spPr>
          <a:xfrm>
            <a:off x="7479792" y="3108960"/>
            <a:ext cx="3922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本方案采用商品原图拼版。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实际商品以 SKU 与规格明细为准。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7479792" y="4773168"/>
            <a:ext cx="3922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66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¥254.00</a:t>
            </a:r>
            <a:endParaRPr lang="en-US" sz="2700" dirty="0"/>
          </a:p>
        </p:txBody>
      </p:sp>
      <p:sp>
        <p:nvSpPr>
          <p:cNvPr id="27" name="Text 21"/>
          <p:cNvSpPr txBox="1"/>
          <p:nvPr/>
        </p:nvSpPr>
        <p:spPr>
          <a:xfrm>
            <a:off x="7479792" y="5358384"/>
            <a:ext cx="39227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每套商品均价 · 优惠及费用见合并账单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663344"/>
          </a:solidFill>
          <a:ln w="12700">
            <a:solidFill>
              <a:srgbClr val="66334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品类 · 舒适优选 · 搭配说明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品类 · 方案 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青屿服饰  /  quote-mtwdirm6-aqaoi · V16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536192"/>
            <a:ext cx="10652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符合企业团建 / 休闲，优先保留基础款递进；锁定项可手动解锁调整。
商品：米杏珠地短袖 Polo（米杏）；苔绿直筒休闲裤（苔绿）；苔绿简约棒球帽（苔绿）；米白轻量休闲鞋（米
白）
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663344"/>
          </a:solidFill>
          <a:ln w="12700">
            <a:solidFill>
              <a:srgbClr val="66334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合并采购 · SKU 明细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 SKU 的采购数量已累计；金额固定于本次报价快照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青屿服饰  /  quote-mtwdirm6-aqaoi · V16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527048"/>
          <a:ext cx="10972800" cy="411480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SKU / 款号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商品名称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颜色 / 尺码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销售单价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行金额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4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938528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ZX-11-M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米杏珠地短袖 Polo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 / 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¥90.00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¥1,440.00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331720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ZX-11-L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米杏珠地短袖 Polo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 / 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¥960.00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724912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ZX-11-XL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米杏珠地短袖 Polo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 / XL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¥960.00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118104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ZX-12-M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苔绿直筒休闲裤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 / 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¥60.00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¥720.00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511296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ZX-12-L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苔绿直筒休闲裤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 / 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¥60.00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¥540.00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904488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ZX-12-XL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苔绿直筒休闲裤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 / XL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¥60.00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¥540.00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4297680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ZX-13-均码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苔绿简约棒球帽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 / 均码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 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¥400.00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4690872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ZX-14-39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米白轻量休闲鞋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米白 / 39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¥90.00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1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5084064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ZX-14-40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米白轻量休闲鞋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米白 / 40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¥90.00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3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5477256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ZX-14-41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米白轻量休闲鞋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米白 / 41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¥90.00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sp>
        <p:nvSpPr>
          <p:cNvPr id="19" name="Text 6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663344"/>
          </a:solidFill>
          <a:ln w="12700">
            <a:solidFill>
              <a:srgbClr val="66334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合并采购 · SKU 明细（续 1）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 SKU 的采购数量已累计；金额固定于本次报价快照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青屿服饰  /  quote-mtwdirm6-aqaoi · V16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527048"/>
          <a:ext cx="10972800" cy="411480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SKU / 款号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商品名称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颜色 / 尺码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销售单价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行金额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4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938528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ZX-14-42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米白轻量休闲鞋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米白 / 42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¥90.00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331720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ZX-14-43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米白轻量休闲鞋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米白 / 43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¥90.00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663344"/>
          </a:solidFill>
          <a:ln w="12700">
            <a:solidFill>
              <a:srgbClr val="66334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合并采购账单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含税销售价，不重复加税 · 优惠、附加费用和适用税额只计一次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青屿服饰  /  quote-mtwdirm6-aqaoi · V16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527048"/>
          <a:ext cx="10972800" cy="411480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金额项目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人民币金额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4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938528"/>
          <a:ext cx="10972800" cy="393192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合并商品金额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¥6,460.00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331720"/>
          <a:ext cx="10972800" cy="393192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整单优惠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 ¥323.00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724912"/>
          <a:ext cx="10972800" cy="393192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附加费用 / 运费（已含税 / 不再加税）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¥300.00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118104"/>
          <a:ext cx="10972800" cy="393192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合并采购应付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¥6,437.00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sp>
        <p:nvSpPr>
          <p:cNvPr id="13" name="Text 6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663344"/>
          </a:solidFill>
          <a:ln w="12700">
            <a:solidFill>
              <a:srgbClr val="66334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商务说明与联系方式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报价有效期与库存核对时间分别记录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青屿服饰  /  quote-mtwdirm6-aqaoi · V16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536192"/>
            <a:ext cx="10652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报价日期：2026/9/11 11:05:26；有效至：2026/9/18 11:05:26。
库存核对时间：2026/9/11 11:05:10；价格版本 P2，库存版本 S1。报价不预占库存，正式订货时须再次确认可售
数量与交期。
图片说明：采用商品原图拼版。 实际商品以原图、SKU、颜色和尺码规格为准。
对客备注：现货报价，以订单确认时库存为准。
联系：销售顾问 林亦（示例） / 400-000-0000。
原型评审说明：本文件使用演示商品数据与示意素材，不构成真实供货承诺。
企业模板：V2。本次文件对应固定报价快照，外部编辑不会自动回写系统。
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青屿服饰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森禾 · 秋季团建服装方案</dc:title>
  <dc:subject>演示商品报价 · 固定报价版本</dc:subject>
  <dc:creator>青屿服饰</dc:creator>
  <cp:lastModifiedBy>青屿服饰</cp:lastModifiedBy>
  <cp:revision>1</cp:revision>
  <dcterms:created xsi:type="dcterms:W3CDTF">2026-09-11T03:05:26Z</dcterms:created>
  <dcterms:modified xsi:type="dcterms:W3CDTF">2026-09-11T03:05:26Z</dcterms:modified>
</cp:coreProperties>
</file>