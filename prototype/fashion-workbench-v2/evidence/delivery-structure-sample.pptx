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织选</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FASHION SELECTION &amp; QUOTATION</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Shape 6"/>
          <p:cNvSpPr/>
          <p:nvPr/>
        </p:nvSpPr>
        <p:spPr>
          <a:xfrm>
            <a:off x="621792" y="1508760"/>
            <a:ext cx="6720840" cy="4434840"/>
          </a:xfrm>
          <a:prstGeom prst="rect">
            <a:avLst/>
          </a:prstGeom>
          <a:solidFill>
            <a:srgbClr val="355B49"/>
          </a:solidFill>
          <a:ln w="12700">
            <a:solidFill>
              <a:srgbClr val="355B49">
                <a:alpha val="0"/>
              </a:srgbClr>
            </a:solidFill>
            <a:prstDash val="solid"/>
          </a:ln>
        </p:spPr>
      </p:sp>
      <p:sp>
        <p:nvSpPr>
          <p:cNvPr id="9" name="Text 7"/>
          <p:cNvSpPr txBox="1"/>
          <p:nvPr/>
        </p:nvSpPr>
        <p:spPr>
          <a:xfrm>
            <a:off x="950976" y="1883664"/>
            <a:ext cx="6035040" cy="1234440"/>
          </a:xfrm>
          <a:prstGeom prst="rect">
            <a:avLst/>
          </a:prstGeom>
          <a:noFill/>
          <a:ln/>
        </p:spPr>
        <p:txBody>
          <a:bodyPr wrap="square" lIns="0" tIns="0" rIns="0" bIns="0" rtlCol="0" anchor="t"/>
          <a:lstStyle/>
          <a:p>
            <a:pPr algn="l" indent="0" marL="0">
              <a:lnSpc>
                <a:spcPct val="130000"/>
              </a:lnSpc>
              <a:buNone/>
            </a:pPr>
            <a:r>
              <a:rPr lang="en-US" sz="3000" b="1" dirty="0">
                <a:solidFill>
                  <a:srgbClr val="FFFFFF"/>
                </a:solidFill>
                <a:latin typeface="Microsoft YaHei" pitchFamily="34" charset="0"/>
                <a:ea typeface="Microsoft YaHei" pitchFamily="34" charset="-122"/>
                <a:cs typeface="Microsoft YaHei" pitchFamily="34" charset="-120"/>
              </a:rPr>
              <a:t>为每一次采购，</a:t>
            </a:r>
            <a:endParaRPr lang="en-US" sz="3000" dirty="0"/>
          </a:p>
          <a:p>
            <a:pPr algn="l" indent="0" marL="0">
              <a:lnSpc>
                <a:spcPct val="130000"/>
              </a:lnSpc>
              <a:buNone/>
            </a:pPr>
            <a:r>
              <a:rPr lang="en-US" sz="3000" b="1" dirty="0">
                <a:solidFill>
                  <a:srgbClr val="FFFFFF"/>
                </a:solidFill>
                <a:latin typeface="Microsoft YaHei" pitchFamily="34" charset="0"/>
                <a:ea typeface="Microsoft YaHei" pitchFamily="34" charset="-122"/>
                <a:cs typeface="Microsoft YaHei" pitchFamily="34" charset="-120"/>
              </a:rPr>
              <a:t>搭配合适的选择。</a:t>
            </a:r>
            <a:endParaRPr lang="en-US" sz="3000" dirty="0"/>
          </a:p>
        </p:txBody>
      </p:sp>
      <p:sp>
        <p:nvSpPr>
          <p:cNvPr id="10" name="Text 8"/>
          <p:cNvSpPr txBox="1"/>
          <p:nvPr/>
        </p:nvSpPr>
        <p:spPr>
          <a:xfrm>
            <a:off x="950976" y="3319272"/>
            <a:ext cx="5897880" cy="1097280"/>
          </a:xfrm>
          <a:prstGeom prst="rect">
            <a:avLst/>
          </a:prstGeom>
          <a:noFill/>
          <a:ln/>
        </p:spPr>
        <p:txBody>
          <a:bodyPr wrap="square" lIns="0" tIns="0" rIns="0" bIns="0" rtlCol="0" anchor="t"/>
          <a:lstStyle/>
          <a:p>
            <a:pPr algn="l" indent="0" marL="0">
              <a:lnSpc>
                <a:spcPct val="130000"/>
              </a:lnSpc>
              <a:buNone/>
            </a:pPr>
            <a:r>
              <a:rPr lang="en-US" sz="2100" b="1" dirty="0">
                <a:solidFill>
                  <a:srgbClr val="FFFFFF"/>
                </a:solidFill>
                <a:latin typeface="Microsoft YaHei" pitchFamily="34" charset="0"/>
                <a:ea typeface="Microsoft YaHei" pitchFamily="34" charset="-122"/>
                <a:cs typeface="Microsoft YaHei" pitchFamily="34" charset="-120"/>
              </a:rPr>
              <a:t>四档服饰搭配与多尺码报价验证</a:t>
            </a:r>
            <a:endParaRPr lang="en-US" sz="2100" dirty="0"/>
          </a:p>
        </p:txBody>
      </p:sp>
      <p:sp>
        <p:nvSpPr>
          <p:cNvPr id="11" name="Text 9"/>
          <p:cNvSpPr txBox="1"/>
          <p:nvPr/>
        </p:nvSpPr>
        <p:spPr>
          <a:xfrm>
            <a:off x="950976" y="4590288"/>
            <a:ext cx="5852160" cy="960120"/>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Microsoft YaHei" pitchFamily="34" charset="0"/>
                <a:ea typeface="Microsoft YaHei" pitchFamily="34" charset="-122"/>
                <a:cs typeface="Microsoft YaHei" pitchFamily="34" charset="-120"/>
              </a:rPr>
              <a:t>结构测试团购客户</a:t>
            </a:r>
            <a:endParaRPr lang="en-US" sz="1300" dirty="0"/>
          </a:p>
          <a:p>
            <a:pPr algn="l" indent="0" marL="0">
              <a:lnSpc>
                <a:spcPct val="130000"/>
              </a:lnSpc>
              <a:buNone/>
            </a:pPr>
            <a:r>
              <a:rPr lang="en-US" sz="1300" dirty="0">
                <a:solidFill>
                  <a:srgbClr val="FFFFFF"/>
                </a:solidFill>
                <a:latin typeface="Microsoft YaHei" pitchFamily="34" charset="0"/>
                <a:ea typeface="Microsoft YaHei" pitchFamily="34" charset="-122"/>
                <a:cs typeface="Microsoft YaHei" pitchFamily="34" charset="-120"/>
              </a:rPr>
              <a:t>备选报价 · 客户任选，各方案独立核算</a:t>
            </a:r>
            <a:endParaRPr lang="en-US" sz="1300" dirty="0"/>
          </a:p>
          <a:p>
            <a:pPr algn="l" indent="0" marL="0">
              <a:lnSpc>
                <a:spcPct val="130000"/>
              </a:lnSpc>
              <a:buNone/>
            </a:pPr>
            <a:r>
              <a:rPr lang="en-US" sz="1300" dirty="0">
                <a:solidFill>
                  <a:srgbClr val="FFFFFF"/>
                </a:solidFill>
                <a:latin typeface="Microsoft YaHei" pitchFamily="34" charset="0"/>
                <a:ea typeface="Microsoft YaHei" pitchFamily="34" charset="-122"/>
                <a:cs typeface="Microsoft YaHei" pitchFamily="34" charset="-120"/>
              </a:rPr>
              <a:t>生成日期 2026/9/11 16:00:00</a:t>
            </a:r>
            <a:endParaRPr lang="en-US" sz="1300" dirty="0"/>
          </a:p>
        </p:txBody>
      </p:sp>
      <p:sp>
        <p:nvSpPr>
          <p:cNvPr id="12" name="Shape 10"/>
          <p:cNvSpPr/>
          <p:nvPr/>
        </p:nvSpPr>
        <p:spPr>
          <a:xfrm>
            <a:off x="7571232" y="1508760"/>
            <a:ext cx="3977640" cy="4434840"/>
          </a:xfrm>
          <a:prstGeom prst="rect">
            <a:avLst/>
          </a:prstGeom>
          <a:solidFill>
            <a:srgbClr val="EAF0E7"/>
          </a:solidFill>
          <a:ln w="12700">
            <a:solidFill>
              <a:srgbClr val="EAF0E7">
                <a:alpha val="0"/>
              </a:srgbClr>
            </a:solidFill>
            <a:prstDash val="solid"/>
          </a:ln>
        </p:spPr>
      </p:sp>
      <p:pic>
        <p:nvPicPr>
          <p:cNvPr id="13" name="Image 0" descr="报价商品示意">    </p:cNvPr>
          <p:cNvPicPr>
            <a:picLocks noChangeAspect="1"/>
          </p:cNvPicPr>
          <p:nvPr/>
        </p:nvPicPr>
        <p:blipFill>
          <a:blip r:embed="rId1"/>
          <a:stretch>
            <a:fillRect/>
          </a:stretch>
        </p:blipFill>
        <p:spPr>
          <a:xfrm>
            <a:off x="7818120" y="2670048"/>
            <a:ext cx="3493008" cy="1746504"/>
          </a:xfrm>
          <a:prstGeom prst="rect">
            <a:avLst/>
          </a:prstGeom>
        </p:spPr>
      </p:pic>
      <p:sp>
        <p:nvSpPr>
          <p:cNvPr id="14" name="Text 11"/>
          <p:cNvSpPr txBox="1"/>
          <p:nvPr/>
        </p:nvSpPr>
        <p:spPr>
          <a:xfrm>
            <a:off x="7790688" y="5532120"/>
            <a:ext cx="3520440" cy="182880"/>
          </a:xfrm>
          <a:prstGeom prst="rect">
            <a:avLst/>
          </a:prstGeom>
          <a:noFill/>
          <a:ln/>
        </p:spPr>
        <p:txBody>
          <a:bodyPr wrap="square" lIns="0" tIns="0" rIns="0" bIns="0" rtlCol="0" anchor="t"/>
          <a:lstStyle/>
          <a:p>
            <a:pPr algn="ctr" indent="0" marL="0">
              <a:lnSpc>
                <a:spcPct val="130000"/>
              </a:lnSpc>
              <a:buNone/>
            </a:pPr>
            <a:r>
              <a:rPr lang="en-US" sz="1000" dirty="0">
                <a:solidFill>
                  <a:srgbClr val="5D6E63"/>
                </a:solidFill>
                <a:latin typeface="Microsoft YaHei" pitchFamily="34" charset="0"/>
                <a:ea typeface="Microsoft YaHei" pitchFamily="34" charset="-122"/>
                <a:cs typeface="Microsoft YaHei" pitchFamily="34" charset="-120"/>
              </a:rPr>
              <a:t>商品与图片均为原型演示素材</a:t>
            </a:r>
            <a:endParaRPr lang="en-US" sz="1000" dirty="0"/>
          </a:p>
        </p:txBody>
      </p:sp>
      <p:pic>
        <p:nvPicPr>
          <p:cNvPr id="15" name="Image 1" descr="企业 Logo">    </p:cNvPr>
          <p:cNvPicPr>
            <a:picLocks noChangeAspect="1"/>
          </p:cNvPicPr>
          <p:nvPr/>
        </p:nvPicPr>
        <p:blipFill>
          <a:blip r:embed="rId2"/>
          <a:stretch>
            <a:fillRect/>
          </a:stretch>
        </p:blipFill>
        <p:spPr>
          <a:xfrm>
            <a:off x="10378440" y="365760"/>
            <a:ext cx="1005840" cy="502920"/>
          </a:xfrm>
          <a:prstGeom prst="rect">
            <a:avLst/>
          </a:prstGeom>
        </p:spPr>
      </p:pic>
      <p:sp>
        <p:nvSpPr>
          <p:cNvPr id="16" name="Text 12"/>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01 / 36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需求与报价口径</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结构测试团购客户 · 报价版本 V2</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Text 6"/>
          <p:cNvSpPr txBox="1"/>
          <p:nvPr/>
        </p:nvSpPr>
        <p:spPr>
          <a:xfrm>
            <a:off x="777240" y="1536192"/>
            <a:ext cx="10652760" cy="4480560"/>
          </a:xfrm>
          <a:prstGeom prst="rect">
            <a:avLst/>
          </a:prstGeom>
          <a:noFill/>
          <a:ln/>
        </p:spPr>
        <p:txBody>
          <a:bodyPr wrap="square" lIns="0" tIns="0" rIns="0" bIns="0" rtlCol="0" anchor="t"/>
          <a:lstStyle/>
          <a:p>
            <a:pPr algn="l" indent="0" marL="0">
              <a:lnSpc>
                <a:spcPct val="145000"/>
              </a:lnSpc>
              <a:buNone/>
            </a:pPr>
            <a:r>
              <a:rPr lang="en-US" sz="1500" dirty="0">
                <a:solidFill>
                  <a:srgbClr val="24352E"/>
                </a:solidFill>
                <a:latin typeface="Microsoft YaHei" pitchFamily="34" charset="0"/>
                <a:ea typeface="Microsoft YaHei" pitchFamily="34" charset="-122"/>
                <a:cs typeface="Microsoft YaHei" pitchFamily="34" charset="-120"/>
              </a:rPr>
              <a:t>方案主题：四档服饰搭配与多尺码报价验证
采购场景：秋季团购；风格：通勤；季节：秋季
品类档位：1 / 2 / 3 / 4 品类；本次 4 个候选。各组合采购量见比较页。
采购总预算：¥300.00（含附加费用及适用税额，最终按对应报价模式判断）。
报价模式：备选报价 · 客户任选，各方案独立核算。所有候选是不同选择，各候选金额与库存分别核算，不累计
成客户应付金额。
币种：人民币 CNY。税费口径：含税销售价，不重复加税。
需求补充：按真实尺码数量报价。
</a:t>
            </a:r>
            <a:endParaRPr lang="en-US" sz="1500" dirty="0"/>
          </a:p>
        </p:txBody>
      </p:sp>
      <p:sp>
        <p:nvSpPr>
          <p:cNvPr id="9" name="Text 7"/>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方案比较</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备选报价 · 客户任选，各方案独立核算</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468880"/>
                <a:gridCol w="960120"/>
                <a:gridCol w="2880360"/>
                <a:gridCol w="1097280"/>
                <a:gridCol w="1783080"/>
                <a:gridCol w="178308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候选方案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档位</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组成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采购量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平均每套</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对应应付</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468880"/>
                <a:gridCol w="960120"/>
                <a:gridCol w="2880360"/>
                <a:gridCol w="1097280"/>
                <a:gridCol w="1783080"/>
                <a:gridCol w="17830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 品类独立备选</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 品类</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 套</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¥79.00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¥7,900.00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2468880"/>
                <a:gridCol w="960120"/>
                <a:gridCol w="2880360"/>
                <a:gridCol w="1097280"/>
                <a:gridCol w="1783080"/>
                <a:gridCol w="17830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 品类独立备选</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 品类</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上衣 + 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 套</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¥136.00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¥13,600.00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3"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2468880"/>
                <a:gridCol w="960120"/>
                <a:gridCol w="2880360"/>
                <a:gridCol w="1097280"/>
                <a:gridCol w="1783080"/>
                <a:gridCol w="17830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 品类独立备选</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 品类</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上衣 + 裤子 + 帽子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 套</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¥155.00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¥15,500.00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6"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2468880"/>
                <a:gridCol w="960120"/>
                <a:gridCol w="2880360"/>
                <a:gridCol w="1097280"/>
                <a:gridCol w="1783080"/>
                <a:gridCol w="17830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 品类独立备选</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 品类</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上衣 + 裤子 + 帽子 + 鞋</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 套</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¥240.50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¥24,050.00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3"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1 品类独立备选</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1 品类 · 100 套 · 备选报价 · 客户任选，各方案独立核算</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Shape 6"/>
          <p:cNvSpPr/>
          <p:nvPr/>
        </p:nvSpPr>
        <p:spPr>
          <a:xfrm>
            <a:off x="786384" y="1554480"/>
            <a:ext cx="5166360" cy="4160520"/>
          </a:xfrm>
          <a:prstGeom prst="rect">
            <a:avLst/>
          </a:prstGeom>
          <a:solidFill>
            <a:srgbClr val="FFFFFF"/>
          </a:solidFill>
          <a:ln w="12700">
            <a:solidFill>
              <a:srgbClr val="FFFFFF">
                <a:alpha val="0"/>
              </a:srgbClr>
            </a:solidFill>
            <a:prstDash val="solid"/>
          </a:ln>
        </p:spPr>
      </p:sp>
      <p:pic>
        <p:nvPicPr>
          <p:cNvPr id="9" name="Image 0" descr="上衣 演示上衣">    </p:cNvPr>
          <p:cNvPicPr>
            <a:picLocks noChangeAspect="1"/>
          </p:cNvPicPr>
          <p:nvPr/>
        </p:nvPicPr>
        <p:blipFill>
          <a:blip r:embed="rId1"/>
          <a:stretch>
            <a:fillRect/>
          </a:stretch>
        </p:blipFill>
        <p:spPr>
          <a:xfrm>
            <a:off x="896112" y="2187702"/>
            <a:ext cx="4946904" cy="2473452"/>
          </a:xfrm>
          <a:prstGeom prst="rect">
            <a:avLst/>
          </a:prstGeom>
        </p:spPr>
      </p:pic>
      <p:sp>
        <p:nvSpPr>
          <p:cNvPr id="10" name="Text 7"/>
          <p:cNvSpPr txBox="1"/>
          <p:nvPr/>
        </p:nvSpPr>
        <p:spPr>
          <a:xfrm>
            <a:off x="932688" y="5285232"/>
            <a:ext cx="4873752"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1. 上衣 · 苔绿</a:t>
            </a:r>
            <a:endParaRPr lang="en-US" sz="1200" dirty="0"/>
          </a:p>
        </p:txBody>
      </p:sp>
      <p:sp>
        <p:nvSpPr>
          <p:cNvPr id="11" name="Text 8"/>
          <p:cNvSpPr txBox="1"/>
          <p:nvPr/>
        </p:nvSpPr>
        <p:spPr>
          <a:xfrm>
            <a:off x="932688" y="5495544"/>
            <a:ext cx="4873752"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2" name="Text 9"/>
          <p:cNvSpPr txBox="1"/>
          <p:nvPr/>
        </p:nvSpPr>
        <p:spPr>
          <a:xfrm>
            <a:off x="6291072" y="1792224"/>
            <a:ext cx="5166360" cy="1097280"/>
          </a:xfrm>
          <a:prstGeom prst="rect">
            <a:avLst/>
          </a:prstGeom>
          <a:noFill/>
          <a:ln/>
        </p:spPr>
        <p:txBody>
          <a:bodyPr wrap="square" lIns="0" tIns="0" rIns="0" bIns="0" rtlCol="0" anchor="t"/>
          <a:lstStyle/>
          <a:p>
            <a:pPr algn="l" indent="0" marL="0">
              <a:lnSpc>
                <a:spcPct val="130000"/>
              </a:lnSpc>
              <a:buNone/>
            </a:pPr>
            <a:r>
              <a:rPr lang="en-US" sz="2500" b="1" dirty="0">
                <a:solidFill>
                  <a:srgbClr val="355B49"/>
                </a:solidFill>
                <a:latin typeface="Microsoft YaHei" pitchFamily="34" charset="0"/>
                <a:ea typeface="Microsoft YaHei" pitchFamily="34" charset="-122"/>
                <a:cs typeface="Microsoft YaHei" pitchFamily="34" charset="-120"/>
              </a:rPr>
              <a:t>好搭配，</a:t>
            </a:r>
            <a:endParaRPr lang="en-US" sz="2500" dirty="0"/>
          </a:p>
          <a:p>
            <a:pPr algn="l" indent="0" marL="0">
              <a:lnSpc>
                <a:spcPct val="130000"/>
              </a:lnSpc>
              <a:buNone/>
            </a:pPr>
            <a:r>
              <a:rPr lang="en-US" sz="2500" b="1" dirty="0">
                <a:solidFill>
                  <a:srgbClr val="355B49"/>
                </a:solidFill>
                <a:latin typeface="Microsoft YaHei" pitchFamily="34" charset="0"/>
                <a:ea typeface="Microsoft YaHei" pitchFamily="34" charset="-122"/>
                <a:cs typeface="Microsoft YaHei" pitchFamily="34" charset="-120"/>
              </a:rPr>
              <a:t>从真实商品开始。</a:t>
            </a:r>
            <a:endParaRPr lang="en-US" sz="2500" dirty="0"/>
          </a:p>
        </p:txBody>
      </p:sp>
      <p:sp>
        <p:nvSpPr>
          <p:cNvPr id="13" name="Text 10"/>
          <p:cNvSpPr txBox="1"/>
          <p:nvPr/>
        </p:nvSpPr>
        <p:spPr>
          <a:xfrm>
            <a:off x="6309360" y="3108960"/>
            <a:ext cx="5111496" cy="822960"/>
          </a:xfrm>
          <a:prstGeom prst="rect">
            <a:avLst/>
          </a:prstGeom>
          <a:noFill/>
          <a:ln/>
        </p:spPr>
        <p:txBody>
          <a:bodyPr wrap="square" lIns="0" tIns="0" rIns="0" bIns="0" rtlCol="0" anchor="t"/>
          <a:lstStyle/>
          <a:p>
            <a:pPr algn="l" indent="0" marL="0">
              <a:lnSpc>
                <a:spcPct val="130000"/>
              </a:lnSpc>
              <a:buNone/>
            </a:pPr>
            <a:r>
              <a:rPr lang="en-US" sz="1300" dirty="0">
                <a:solidFill>
                  <a:srgbClr val="5D6E63"/>
                </a:solidFill>
                <a:latin typeface="Microsoft YaHei" pitchFamily="34" charset="0"/>
                <a:ea typeface="Microsoft YaHei" pitchFamily="34" charset="-122"/>
                <a:cs typeface="Microsoft YaHei" pitchFamily="34" charset="-120"/>
              </a:rPr>
              <a:t>本方案采用商品原图拼版。</a:t>
            </a:r>
            <a:endParaRPr lang="en-US" sz="1300" dirty="0"/>
          </a:p>
          <a:p>
            <a:pPr algn="l" indent="0" marL="0">
              <a:lnSpc>
                <a:spcPct val="130000"/>
              </a:lnSpc>
              <a:buNone/>
            </a:pPr>
            <a:r>
              <a:rPr lang="en-US" sz="1300" dirty="0">
                <a:solidFill>
                  <a:srgbClr val="5D6E63"/>
                </a:solidFill>
                <a:latin typeface="Microsoft YaHei" pitchFamily="34" charset="0"/>
                <a:ea typeface="Microsoft YaHei" pitchFamily="34" charset="-122"/>
                <a:cs typeface="Microsoft YaHei" pitchFamily="34" charset="-120"/>
              </a:rPr>
              <a:t>实际商品以 SKU 与规格明细为准。</a:t>
            </a:r>
            <a:endParaRPr lang="en-US" sz="1300" dirty="0"/>
          </a:p>
        </p:txBody>
      </p:sp>
      <p:sp>
        <p:nvSpPr>
          <p:cNvPr id="14" name="Text 11"/>
          <p:cNvSpPr txBox="1"/>
          <p:nvPr/>
        </p:nvSpPr>
        <p:spPr>
          <a:xfrm>
            <a:off x="6309360" y="4773168"/>
            <a:ext cx="5111496" cy="475488"/>
          </a:xfrm>
          <a:prstGeom prst="rect">
            <a:avLst/>
          </a:prstGeom>
          <a:noFill/>
          <a:ln/>
        </p:spPr>
        <p:txBody>
          <a:bodyPr wrap="square" lIns="0" tIns="0" rIns="0" bIns="0" rtlCol="0" anchor="t"/>
          <a:lstStyle/>
          <a:p>
            <a:pPr algn="l" indent="0" marL="0">
              <a:lnSpc>
                <a:spcPct val="130000"/>
              </a:lnSpc>
              <a:buNone/>
            </a:pPr>
            <a:r>
              <a:rPr lang="en-US" sz="2700" b="1" dirty="0">
                <a:solidFill>
                  <a:srgbClr val="355B49"/>
                </a:solidFill>
                <a:latin typeface="Microsoft YaHei" pitchFamily="34" charset="0"/>
                <a:ea typeface="Microsoft YaHei" pitchFamily="34" charset="-122"/>
                <a:cs typeface="Microsoft YaHei" pitchFamily="34" charset="-120"/>
              </a:rPr>
              <a:t>¥79.00</a:t>
            </a:r>
            <a:endParaRPr lang="en-US" sz="2700" dirty="0"/>
          </a:p>
        </p:txBody>
      </p:sp>
      <p:sp>
        <p:nvSpPr>
          <p:cNvPr id="15" name="Text 12"/>
          <p:cNvSpPr txBox="1"/>
          <p:nvPr/>
        </p:nvSpPr>
        <p:spPr>
          <a:xfrm>
            <a:off x="6309360" y="5358384"/>
            <a:ext cx="5111496" cy="356616"/>
          </a:xfrm>
          <a:prstGeom prst="rect">
            <a:avLst/>
          </a:prstGeom>
          <a:noFill/>
          <a:ln/>
        </p:spPr>
        <p:txBody>
          <a:bodyPr wrap="square" lIns="0" tIns="0" rIns="0" bIns="0" rtlCol="0" anchor="t"/>
          <a:lstStyle/>
          <a:p>
            <a:pPr algn="l" indent="0" marL="0">
              <a:lnSpc>
                <a:spcPct val="130000"/>
              </a:lnSpc>
              <a:buNone/>
            </a:pPr>
            <a:r>
              <a:rPr lang="en-US" sz="1100" dirty="0">
                <a:solidFill>
                  <a:srgbClr val="5D6E63"/>
                </a:solidFill>
                <a:latin typeface="Microsoft YaHei" pitchFamily="34" charset="0"/>
                <a:ea typeface="Microsoft YaHei" pitchFamily="34" charset="-122"/>
                <a:cs typeface="Microsoft YaHei" pitchFamily="34" charset="-120"/>
              </a:rPr>
              <a:t>平均每套 / 含费用   ·   应付 ¥7,900.00</a:t>
            </a:r>
            <a:endParaRPr lang="en-US" sz="1100" dirty="0"/>
          </a:p>
        </p:txBody>
      </p:sp>
      <p:sp>
        <p:nvSpPr>
          <p:cNvPr id="16" name="Text 13"/>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1 品类独立备选 · 搭配说明</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1 品类 · 方案 1</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Text 6"/>
          <p:cNvSpPr txBox="1"/>
          <p:nvPr/>
        </p:nvSpPr>
        <p:spPr>
          <a:xfrm>
            <a:off x="777240" y="1536192"/>
            <a:ext cx="10652760" cy="4480560"/>
          </a:xfrm>
          <a:prstGeom prst="rect">
            <a:avLst/>
          </a:prstGeom>
          <a:noFill/>
          <a:ln/>
        </p:spPr>
        <p:txBody>
          <a:bodyPr wrap="square" lIns="0" tIns="0" rIns="0" bIns="0" rtlCol="0" anchor="t"/>
          <a:lstStyle/>
          <a:p>
            <a:pPr algn="l" indent="0" marL="0">
              <a:lnSpc>
                <a:spcPct val="145000"/>
              </a:lnSpc>
              <a:buNone/>
            </a:pPr>
            <a:r>
              <a:rPr lang="en-US" sz="1500" dirty="0">
                <a:solidFill>
                  <a:srgbClr val="24352E"/>
                </a:solidFill>
                <a:latin typeface="Microsoft YaHei" pitchFamily="34" charset="0"/>
                <a:ea typeface="Microsoft YaHei" pitchFamily="34" charset="-122"/>
                <a:cs typeface="Microsoft YaHei" pitchFamily="34" charset="-120"/>
              </a:rPr>
              <a:t>同色系搭配，完整保留客户要求与单品资料。
商品：演示上衣（苔绿）
</a:t>
            </a:r>
            <a:endParaRPr lang="en-US" sz="1500" dirty="0"/>
          </a:p>
        </p:txBody>
      </p:sp>
      <p:sp>
        <p:nvSpPr>
          <p:cNvPr id="9" name="Text 7"/>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1 品类独立备选 · SKU 报价明细</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STYLE-1-0-0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STYLE-1-0-1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1"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1 品类独立备选 · 金额确认</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100 套 · 平均每套 ¥79.00，平均值仅作展示</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7589520"/>
                <a:gridCol w="338328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金额项目</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人民币金额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整单优惠（仅作用于商品合计）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29"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附加费用 / 运费（已含税 / 不再加税）</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36"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本备选方案应付</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¥7,900.00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3"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2 品类独立备选</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2 品类 · 100 套 · 备选报价 · 客户任选，各方案独立核算</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Shape 6"/>
          <p:cNvSpPr/>
          <p:nvPr/>
        </p:nvSpPr>
        <p:spPr>
          <a:xfrm>
            <a:off x="786384" y="1554480"/>
            <a:ext cx="3127248" cy="4160520"/>
          </a:xfrm>
          <a:prstGeom prst="rect">
            <a:avLst/>
          </a:prstGeom>
          <a:solidFill>
            <a:srgbClr val="FFFFFF"/>
          </a:solidFill>
          <a:ln w="12700">
            <a:solidFill>
              <a:srgbClr val="FFFFFF">
                <a:alpha val="0"/>
              </a:srgbClr>
            </a:solidFill>
            <a:prstDash val="solid"/>
          </a:ln>
        </p:spPr>
      </p:sp>
      <p:pic>
        <p:nvPicPr>
          <p:cNvPr id="9" name="Image 0" descr="上衣 演示上衣">    </p:cNvPr>
          <p:cNvPicPr>
            <a:picLocks noChangeAspect="1"/>
          </p:cNvPicPr>
          <p:nvPr/>
        </p:nvPicPr>
        <p:blipFill>
          <a:blip r:embed="rId1"/>
          <a:stretch>
            <a:fillRect/>
          </a:stretch>
        </p:blipFill>
        <p:spPr>
          <a:xfrm>
            <a:off x="896112" y="2697480"/>
            <a:ext cx="2907792" cy="1453896"/>
          </a:xfrm>
          <a:prstGeom prst="rect">
            <a:avLst/>
          </a:prstGeom>
        </p:spPr>
      </p:pic>
      <p:sp>
        <p:nvSpPr>
          <p:cNvPr id="10" name="Text 7"/>
          <p:cNvSpPr txBox="1"/>
          <p:nvPr/>
        </p:nvSpPr>
        <p:spPr>
          <a:xfrm>
            <a:off x="932688" y="5285232"/>
            <a:ext cx="2834640"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1. 上衣 · 苔绿</a:t>
            </a:r>
            <a:endParaRPr lang="en-US" sz="1200" dirty="0"/>
          </a:p>
        </p:txBody>
      </p:sp>
      <p:sp>
        <p:nvSpPr>
          <p:cNvPr id="11" name="Text 8"/>
          <p:cNvSpPr txBox="1"/>
          <p:nvPr/>
        </p:nvSpPr>
        <p:spPr>
          <a:xfrm>
            <a:off x="932688" y="5495544"/>
            <a:ext cx="2834640"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2" name="Shape 9"/>
          <p:cNvSpPr/>
          <p:nvPr/>
        </p:nvSpPr>
        <p:spPr>
          <a:xfrm>
            <a:off x="4133088" y="1554480"/>
            <a:ext cx="3127248" cy="4160520"/>
          </a:xfrm>
          <a:prstGeom prst="rect">
            <a:avLst/>
          </a:prstGeom>
          <a:solidFill>
            <a:srgbClr val="FFFFFF"/>
          </a:solidFill>
          <a:ln w="12700">
            <a:solidFill>
              <a:srgbClr val="FFFFFF">
                <a:alpha val="0"/>
              </a:srgbClr>
            </a:solidFill>
            <a:prstDash val="solid"/>
          </a:ln>
        </p:spPr>
      </p:sp>
      <p:pic>
        <p:nvPicPr>
          <p:cNvPr id="13" name="Image 1" descr="裤子 演示裤子">    </p:cNvPr>
          <p:cNvPicPr>
            <a:picLocks noChangeAspect="1"/>
          </p:cNvPicPr>
          <p:nvPr/>
        </p:nvPicPr>
        <p:blipFill>
          <a:blip r:embed="rId2"/>
          <a:stretch>
            <a:fillRect/>
          </a:stretch>
        </p:blipFill>
        <p:spPr>
          <a:xfrm>
            <a:off x="4242816" y="2697480"/>
            <a:ext cx="2907792" cy="1453896"/>
          </a:xfrm>
          <a:prstGeom prst="rect">
            <a:avLst/>
          </a:prstGeom>
        </p:spPr>
      </p:pic>
      <p:sp>
        <p:nvSpPr>
          <p:cNvPr id="14" name="Text 10"/>
          <p:cNvSpPr txBox="1"/>
          <p:nvPr/>
        </p:nvSpPr>
        <p:spPr>
          <a:xfrm>
            <a:off x="4279392" y="5285232"/>
            <a:ext cx="2834640"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2. 裤子 · 苔绿</a:t>
            </a:r>
            <a:endParaRPr lang="en-US" sz="1200" dirty="0"/>
          </a:p>
        </p:txBody>
      </p:sp>
      <p:sp>
        <p:nvSpPr>
          <p:cNvPr id="15" name="Text 11"/>
          <p:cNvSpPr txBox="1"/>
          <p:nvPr/>
        </p:nvSpPr>
        <p:spPr>
          <a:xfrm>
            <a:off x="4279392" y="5495544"/>
            <a:ext cx="2834640"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6" name="Text 12"/>
          <p:cNvSpPr txBox="1"/>
          <p:nvPr/>
        </p:nvSpPr>
        <p:spPr>
          <a:xfrm>
            <a:off x="7461504" y="1792224"/>
            <a:ext cx="3977640" cy="1097280"/>
          </a:xfrm>
          <a:prstGeom prst="rect">
            <a:avLst/>
          </a:prstGeom>
          <a:noFill/>
          <a:ln/>
        </p:spPr>
        <p:txBody>
          <a:bodyPr wrap="square" lIns="0" tIns="0" rIns="0" bIns="0" rtlCol="0" anchor="t"/>
          <a:lstStyle/>
          <a:p>
            <a:pPr algn="l" indent="0" marL="0">
              <a:lnSpc>
                <a:spcPct val="130000"/>
              </a:lnSpc>
              <a:buNone/>
            </a:pPr>
            <a:r>
              <a:rPr lang="en-US" sz="2500" b="1" dirty="0">
                <a:solidFill>
                  <a:srgbClr val="355B49"/>
                </a:solidFill>
                <a:latin typeface="Microsoft YaHei" pitchFamily="34" charset="0"/>
                <a:ea typeface="Microsoft YaHei" pitchFamily="34" charset="-122"/>
                <a:cs typeface="Microsoft YaHei" pitchFamily="34" charset="-120"/>
              </a:rPr>
              <a:t>好搭配，</a:t>
            </a:r>
            <a:endParaRPr lang="en-US" sz="2500" dirty="0"/>
          </a:p>
          <a:p>
            <a:pPr algn="l" indent="0" marL="0">
              <a:lnSpc>
                <a:spcPct val="130000"/>
              </a:lnSpc>
              <a:buNone/>
            </a:pPr>
            <a:r>
              <a:rPr lang="en-US" sz="2500" b="1" dirty="0">
                <a:solidFill>
                  <a:srgbClr val="355B49"/>
                </a:solidFill>
                <a:latin typeface="Microsoft YaHei" pitchFamily="34" charset="0"/>
                <a:ea typeface="Microsoft YaHei" pitchFamily="34" charset="-122"/>
                <a:cs typeface="Microsoft YaHei" pitchFamily="34" charset="-120"/>
              </a:rPr>
              <a:t>从真实商品开始。</a:t>
            </a:r>
            <a:endParaRPr lang="en-US" sz="2500" dirty="0"/>
          </a:p>
        </p:txBody>
      </p:sp>
      <p:sp>
        <p:nvSpPr>
          <p:cNvPr id="17" name="Text 13"/>
          <p:cNvSpPr txBox="1"/>
          <p:nvPr/>
        </p:nvSpPr>
        <p:spPr>
          <a:xfrm>
            <a:off x="7479792" y="3108960"/>
            <a:ext cx="3922776" cy="822960"/>
          </a:xfrm>
          <a:prstGeom prst="rect">
            <a:avLst/>
          </a:prstGeom>
          <a:noFill/>
          <a:ln/>
        </p:spPr>
        <p:txBody>
          <a:bodyPr wrap="square" lIns="0" tIns="0" rIns="0" bIns="0" rtlCol="0" anchor="t"/>
          <a:lstStyle/>
          <a:p>
            <a:pPr algn="l" indent="0" marL="0">
              <a:lnSpc>
                <a:spcPct val="130000"/>
              </a:lnSpc>
              <a:buNone/>
            </a:pPr>
            <a:r>
              <a:rPr lang="en-US" sz="1300" dirty="0">
                <a:solidFill>
                  <a:srgbClr val="5D6E63"/>
                </a:solidFill>
                <a:latin typeface="Microsoft YaHei" pitchFamily="34" charset="0"/>
                <a:ea typeface="Microsoft YaHei" pitchFamily="34" charset="-122"/>
                <a:cs typeface="Microsoft YaHei" pitchFamily="34" charset="-120"/>
              </a:rPr>
              <a:t>本方案采用商品原图拼版。</a:t>
            </a:r>
            <a:endParaRPr lang="en-US" sz="1300" dirty="0"/>
          </a:p>
          <a:p>
            <a:pPr algn="l" indent="0" marL="0">
              <a:lnSpc>
                <a:spcPct val="130000"/>
              </a:lnSpc>
              <a:buNone/>
            </a:pPr>
            <a:r>
              <a:rPr lang="en-US" sz="1300" dirty="0">
                <a:solidFill>
                  <a:srgbClr val="5D6E63"/>
                </a:solidFill>
                <a:latin typeface="Microsoft YaHei" pitchFamily="34" charset="0"/>
                <a:ea typeface="Microsoft YaHei" pitchFamily="34" charset="-122"/>
                <a:cs typeface="Microsoft YaHei" pitchFamily="34" charset="-120"/>
              </a:rPr>
              <a:t>实际商品以 SKU 与规格明细为准。</a:t>
            </a:r>
            <a:endParaRPr lang="en-US" sz="1300" dirty="0"/>
          </a:p>
        </p:txBody>
      </p:sp>
      <p:sp>
        <p:nvSpPr>
          <p:cNvPr id="18" name="Text 14"/>
          <p:cNvSpPr txBox="1"/>
          <p:nvPr/>
        </p:nvSpPr>
        <p:spPr>
          <a:xfrm>
            <a:off x="7479792" y="4773168"/>
            <a:ext cx="3922776" cy="475488"/>
          </a:xfrm>
          <a:prstGeom prst="rect">
            <a:avLst/>
          </a:prstGeom>
          <a:noFill/>
          <a:ln/>
        </p:spPr>
        <p:txBody>
          <a:bodyPr wrap="square" lIns="0" tIns="0" rIns="0" bIns="0" rtlCol="0" anchor="t"/>
          <a:lstStyle/>
          <a:p>
            <a:pPr algn="l" indent="0" marL="0">
              <a:lnSpc>
                <a:spcPct val="130000"/>
              </a:lnSpc>
              <a:buNone/>
            </a:pPr>
            <a:r>
              <a:rPr lang="en-US" sz="2700" b="1" dirty="0">
                <a:solidFill>
                  <a:srgbClr val="355B49"/>
                </a:solidFill>
                <a:latin typeface="Microsoft YaHei" pitchFamily="34" charset="0"/>
                <a:ea typeface="Microsoft YaHei" pitchFamily="34" charset="-122"/>
                <a:cs typeface="Microsoft YaHei" pitchFamily="34" charset="-120"/>
              </a:rPr>
              <a:t>¥136.00</a:t>
            </a:r>
            <a:endParaRPr lang="en-US" sz="2700" dirty="0"/>
          </a:p>
        </p:txBody>
      </p:sp>
      <p:sp>
        <p:nvSpPr>
          <p:cNvPr id="19" name="Text 15"/>
          <p:cNvSpPr txBox="1"/>
          <p:nvPr/>
        </p:nvSpPr>
        <p:spPr>
          <a:xfrm>
            <a:off x="7479792" y="5358384"/>
            <a:ext cx="3922776" cy="356616"/>
          </a:xfrm>
          <a:prstGeom prst="rect">
            <a:avLst/>
          </a:prstGeom>
          <a:noFill/>
          <a:ln/>
        </p:spPr>
        <p:txBody>
          <a:bodyPr wrap="square" lIns="0" tIns="0" rIns="0" bIns="0" rtlCol="0" anchor="t"/>
          <a:lstStyle/>
          <a:p>
            <a:pPr algn="l" indent="0" marL="0">
              <a:lnSpc>
                <a:spcPct val="130000"/>
              </a:lnSpc>
              <a:buNone/>
            </a:pPr>
            <a:r>
              <a:rPr lang="en-US" sz="1100" dirty="0">
                <a:solidFill>
                  <a:srgbClr val="5D6E63"/>
                </a:solidFill>
                <a:latin typeface="Microsoft YaHei" pitchFamily="34" charset="0"/>
                <a:ea typeface="Microsoft YaHei" pitchFamily="34" charset="-122"/>
                <a:cs typeface="Microsoft YaHei" pitchFamily="34" charset="-120"/>
              </a:rPr>
              <a:t>平均每套 / 含费用   ·   应付 ¥13,600.00</a:t>
            </a:r>
            <a:endParaRPr lang="en-US" sz="1100" dirty="0"/>
          </a:p>
        </p:txBody>
      </p:sp>
      <p:sp>
        <p:nvSpPr>
          <p:cNvPr id="20" name="Text 1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2 品类独立备选 · 搭配说明</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2 品类 · 方案 2</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Text 6"/>
          <p:cNvSpPr txBox="1"/>
          <p:nvPr/>
        </p:nvSpPr>
        <p:spPr>
          <a:xfrm>
            <a:off x="777240" y="1536192"/>
            <a:ext cx="10652760" cy="4480560"/>
          </a:xfrm>
          <a:prstGeom prst="rect">
            <a:avLst/>
          </a:prstGeom>
          <a:noFill/>
          <a:ln/>
        </p:spPr>
        <p:txBody>
          <a:bodyPr wrap="square" lIns="0" tIns="0" rIns="0" bIns="0" rtlCol="0" anchor="t"/>
          <a:lstStyle/>
          <a:p>
            <a:pPr algn="l" indent="0" marL="0">
              <a:lnSpc>
                <a:spcPct val="145000"/>
              </a:lnSpc>
              <a:buNone/>
            </a:pPr>
            <a:r>
              <a:rPr lang="en-US" sz="1500" dirty="0">
                <a:solidFill>
                  <a:srgbClr val="24352E"/>
                </a:solidFill>
                <a:latin typeface="Microsoft YaHei" pitchFamily="34" charset="0"/>
                <a:ea typeface="Microsoft YaHei" pitchFamily="34" charset="-122"/>
                <a:cs typeface="Microsoft YaHei" pitchFamily="34" charset="-120"/>
              </a:rPr>
              <a:t>同色系搭配，完整保留客户要求与单品资料。
商品：演示上衣（苔绿）；演示裤子（苔绿）
</a:t>
            </a:r>
            <a:endParaRPr lang="en-US" sz="1500" dirty="0"/>
          </a:p>
        </p:txBody>
      </p:sp>
      <p:sp>
        <p:nvSpPr>
          <p:cNvPr id="9" name="Text 7"/>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09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2 品类独立备选 · SKU 报价明细</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STYLE-2-0-0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STYLE-2-0-1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41"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STYLE-2-1-0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¥60.00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51"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STYLE-2-1-1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¥60.00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3"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2 品类独立备选 · 金额确认</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100 套 · 平均每套 ¥136.00，平均值仅作展示</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7589520"/>
                <a:gridCol w="338328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金额项目</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人民币金额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整单优惠（仅作用于商品合计）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¥700.00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45"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附加费用 / 运费（已含税 / 不再加税）</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56"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本备选方案应付</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¥13,600.00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3"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3 品类独立备选</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3 品类 · 100 套 · 备选报价 · 客户任选，各方案独立核算</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Shape 6"/>
          <p:cNvSpPr/>
          <p:nvPr/>
        </p:nvSpPr>
        <p:spPr>
          <a:xfrm>
            <a:off x="786384" y="1554480"/>
            <a:ext cx="3072384" cy="4160520"/>
          </a:xfrm>
          <a:prstGeom prst="rect">
            <a:avLst/>
          </a:prstGeom>
          <a:solidFill>
            <a:srgbClr val="FFFFFF"/>
          </a:solidFill>
          <a:ln w="12700">
            <a:solidFill>
              <a:srgbClr val="FFFFFF">
                <a:alpha val="0"/>
              </a:srgbClr>
            </a:solidFill>
            <a:prstDash val="solid"/>
          </a:ln>
        </p:spPr>
      </p:sp>
      <p:pic>
        <p:nvPicPr>
          <p:cNvPr id="9" name="Image 0" descr="上衣 演示上衣">    </p:cNvPr>
          <p:cNvPicPr>
            <a:picLocks noChangeAspect="1"/>
          </p:cNvPicPr>
          <p:nvPr/>
        </p:nvPicPr>
        <p:blipFill>
          <a:blip r:embed="rId1"/>
          <a:stretch>
            <a:fillRect/>
          </a:stretch>
        </p:blipFill>
        <p:spPr>
          <a:xfrm>
            <a:off x="896112" y="2711196"/>
            <a:ext cx="2852928" cy="1426464"/>
          </a:xfrm>
          <a:prstGeom prst="rect">
            <a:avLst/>
          </a:prstGeom>
        </p:spPr>
      </p:pic>
      <p:sp>
        <p:nvSpPr>
          <p:cNvPr id="10" name="Text 7"/>
          <p:cNvSpPr txBox="1"/>
          <p:nvPr/>
        </p:nvSpPr>
        <p:spPr>
          <a:xfrm>
            <a:off x="932688" y="528523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1. 上衣 · 苔绿</a:t>
            </a:r>
            <a:endParaRPr lang="en-US" sz="1200" dirty="0"/>
          </a:p>
        </p:txBody>
      </p:sp>
      <p:sp>
        <p:nvSpPr>
          <p:cNvPr id="11" name="Text 8"/>
          <p:cNvSpPr txBox="1"/>
          <p:nvPr/>
        </p:nvSpPr>
        <p:spPr>
          <a:xfrm>
            <a:off x="932688" y="549554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2" name="Shape 9"/>
          <p:cNvSpPr/>
          <p:nvPr/>
        </p:nvSpPr>
        <p:spPr>
          <a:xfrm>
            <a:off x="4069080" y="1554480"/>
            <a:ext cx="3072384" cy="1965960"/>
          </a:xfrm>
          <a:prstGeom prst="rect">
            <a:avLst/>
          </a:prstGeom>
          <a:solidFill>
            <a:srgbClr val="FFFFFF"/>
          </a:solidFill>
          <a:ln w="12700">
            <a:solidFill>
              <a:srgbClr val="FFFFFF">
                <a:alpha val="0"/>
              </a:srgbClr>
            </a:solidFill>
            <a:prstDash val="solid"/>
          </a:ln>
        </p:spPr>
      </p:sp>
      <p:pic>
        <p:nvPicPr>
          <p:cNvPr id="13" name="Image 1" descr="裤子 演示裤子">    </p:cNvPr>
          <p:cNvPicPr>
            <a:picLocks noChangeAspect="1"/>
          </p:cNvPicPr>
          <p:nvPr/>
        </p:nvPicPr>
        <p:blipFill>
          <a:blip r:embed="rId2"/>
          <a:stretch>
            <a:fillRect/>
          </a:stretch>
        </p:blipFill>
        <p:spPr>
          <a:xfrm>
            <a:off x="4279392" y="1664208"/>
            <a:ext cx="2651760" cy="1325880"/>
          </a:xfrm>
          <a:prstGeom prst="rect">
            <a:avLst/>
          </a:prstGeom>
        </p:spPr>
      </p:pic>
      <p:sp>
        <p:nvSpPr>
          <p:cNvPr id="14" name="Text 10"/>
          <p:cNvSpPr txBox="1"/>
          <p:nvPr/>
        </p:nvSpPr>
        <p:spPr>
          <a:xfrm>
            <a:off x="4215384" y="309067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2. 裤子 · 苔绿</a:t>
            </a:r>
            <a:endParaRPr lang="en-US" sz="1200" dirty="0"/>
          </a:p>
        </p:txBody>
      </p:sp>
      <p:sp>
        <p:nvSpPr>
          <p:cNvPr id="15" name="Text 11"/>
          <p:cNvSpPr txBox="1"/>
          <p:nvPr/>
        </p:nvSpPr>
        <p:spPr>
          <a:xfrm>
            <a:off x="4215384" y="330098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6" name="Shape 12"/>
          <p:cNvSpPr/>
          <p:nvPr/>
        </p:nvSpPr>
        <p:spPr>
          <a:xfrm>
            <a:off x="4069080" y="3721608"/>
            <a:ext cx="3072384" cy="1993392"/>
          </a:xfrm>
          <a:prstGeom prst="rect">
            <a:avLst/>
          </a:prstGeom>
          <a:solidFill>
            <a:srgbClr val="FFFFFF"/>
          </a:solidFill>
          <a:ln w="12700">
            <a:solidFill>
              <a:srgbClr val="FFFFFF">
                <a:alpha val="0"/>
              </a:srgbClr>
            </a:solidFill>
            <a:prstDash val="solid"/>
          </a:ln>
        </p:spPr>
      </p:sp>
      <p:pic>
        <p:nvPicPr>
          <p:cNvPr id="17" name="Image 2" descr="帽子 演示帽子">    </p:cNvPr>
          <p:cNvPicPr>
            <a:picLocks noChangeAspect="1"/>
          </p:cNvPicPr>
          <p:nvPr/>
        </p:nvPicPr>
        <p:blipFill>
          <a:blip r:embed="rId3"/>
          <a:stretch>
            <a:fillRect/>
          </a:stretch>
        </p:blipFill>
        <p:spPr>
          <a:xfrm>
            <a:off x="4251960" y="3831336"/>
            <a:ext cx="2706624" cy="1353312"/>
          </a:xfrm>
          <a:prstGeom prst="rect">
            <a:avLst/>
          </a:prstGeom>
        </p:spPr>
      </p:pic>
      <p:sp>
        <p:nvSpPr>
          <p:cNvPr id="18" name="Text 13"/>
          <p:cNvSpPr txBox="1"/>
          <p:nvPr/>
        </p:nvSpPr>
        <p:spPr>
          <a:xfrm>
            <a:off x="4215384" y="528523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3. 帽子 · 苔绿</a:t>
            </a:r>
            <a:endParaRPr lang="en-US" sz="1200" dirty="0"/>
          </a:p>
        </p:txBody>
      </p:sp>
      <p:sp>
        <p:nvSpPr>
          <p:cNvPr id="19" name="Text 14"/>
          <p:cNvSpPr txBox="1"/>
          <p:nvPr/>
        </p:nvSpPr>
        <p:spPr>
          <a:xfrm>
            <a:off x="4215384" y="549554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20" name="Shape 15"/>
          <p:cNvSpPr/>
          <p:nvPr/>
        </p:nvSpPr>
        <p:spPr>
          <a:xfrm>
            <a:off x="7406640" y="1554480"/>
            <a:ext cx="4069080" cy="3090672"/>
          </a:xfrm>
          <a:prstGeom prst="rect">
            <a:avLst/>
          </a:prstGeom>
          <a:solidFill>
            <a:srgbClr val="EAF0E7"/>
          </a:solidFill>
          <a:ln w="12700">
            <a:solidFill>
              <a:srgbClr val="EAF0E7">
                <a:alpha val="0"/>
              </a:srgbClr>
            </a:solidFill>
            <a:prstDash val="solid"/>
          </a:ln>
        </p:spPr>
      </p:sp>
      <p:pic>
        <p:nvPicPr>
          <p:cNvPr id="21" name="Image 3" descr="AI 搭配效果示意 · 原型样例">    </p:cNvPr>
          <p:cNvPicPr>
            <a:picLocks noChangeAspect="1"/>
          </p:cNvPicPr>
          <p:nvPr/>
        </p:nvPicPr>
        <p:blipFill>
          <a:blip r:embed="rId4"/>
          <a:stretch>
            <a:fillRect/>
          </a:stretch>
        </p:blipFill>
        <p:spPr>
          <a:xfrm>
            <a:off x="7534656" y="2055114"/>
            <a:ext cx="3813048" cy="1906524"/>
          </a:xfrm>
          <a:prstGeom prst="rect">
            <a:avLst/>
          </a:prstGeom>
        </p:spPr>
      </p:pic>
      <p:sp>
        <p:nvSpPr>
          <p:cNvPr id="22" name="Text 16"/>
          <p:cNvSpPr txBox="1"/>
          <p:nvPr/>
        </p:nvSpPr>
        <p:spPr>
          <a:xfrm>
            <a:off x="7516368" y="4398264"/>
            <a:ext cx="3849624" cy="155448"/>
          </a:xfrm>
          <a:prstGeom prst="rect">
            <a:avLst/>
          </a:prstGeom>
          <a:noFill/>
          <a:ln/>
        </p:spPr>
        <p:txBody>
          <a:bodyPr wrap="square" lIns="0" tIns="0" rIns="0" bIns="0" rtlCol="0" anchor="t"/>
          <a:lstStyle/>
          <a:p>
            <a:pPr algn="ctr" indent="0" marL="0">
              <a:lnSpc>
                <a:spcPct val="130000"/>
              </a:lnSpc>
              <a:buNone/>
            </a:pPr>
            <a:r>
              <a:rPr lang="en-US" sz="950" dirty="0">
                <a:solidFill>
                  <a:srgbClr val="5D6E63"/>
                </a:solidFill>
                <a:latin typeface="Microsoft YaHei" pitchFamily="34" charset="0"/>
                <a:ea typeface="Microsoft YaHei" pitchFamily="34" charset="-122"/>
                <a:cs typeface="Microsoft YaHei" pitchFamily="34" charset="-120"/>
              </a:rPr>
              <a:t>AI 搭配效果示意 · 原型样例</a:t>
            </a:r>
            <a:endParaRPr lang="en-US" sz="950" dirty="0"/>
          </a:p>
        </p:txBody>
      </p:sp>
      <p:sp>
        <p:nvSpPr>
          <p:cNvPr id="23" name="Text 17"/>
          <p:cNvSpPr txBox="1"/>
          <p:nvPr/>
        </p:nvSpPr>
        <p:spPr>
          <a:xfrm>
            <a:off x="7479792" y="4773168"/>
            <a:ext cx="3922776" cy="475488"/>
          </a:xfrm>
          <a:prstGeom prst="rect">
            <a:avLst/>
          </a:prstGeom>
          <a:noFill/>
          <a:ln/>
        </p:spPr>
        <p:txBody>
          <a:bodyPr wrap="square" lIns="0" tIns="0" rIns="0" bIns="0" rtlCol="0" anchor="t"/>
          <a:lstStyle/>
          <a:p>
            <a:pPr algn="l" indent="0" marL="0">
              <a:lnSpc>
                <a:spcPct val="130000"/>
              </a:lnSpc>
              <a:buNone/>
            </a:pPr>
            <a:r>
              <a:rPr lang="en-US" sz="2700" b="1" dirty="0">
                <a:solidFill>
                  <a:srgbClr val="355B49"/>
                </a:solidFill>
                <a:latin typeface="Microsoft YaHei" pitchFamily="34" charset="0"/>
                <a:ea typeface="Microsoft YaHei" pitchFamily="34" charset="-122"/>
                <a:cs typeface="Microsoft YaHei" pitchFamily="34" charset="-120"/>
              </a:rPr>
              <a:t>¥155.00</a:t>
            </a:r>
            <a:endParaRPr lang="en-US" sz="2700" dirty="0"/>
          </a:p>
        </p:txBody>
      </p:sp>
      <p:sp>
        <p:nvSpPr>
          <p:cNvPr id="24" name="Text 18"/>
          <p:cNvSpPr txBox="1"/>
          <p:nvPr/>
        </p:nvSpPr>
        <p:spPr>
          <a:xfrm>
            <a:off x="7479792" y="5358384"/>
            <a:ext cx="3922776" cy="356616"/>
          </a:xfrm>
          <a:prstGeom prst="rect">
            <a:avLst/>
          </a:prstGeom>
          <a:noFill/>
          <a:ln/>
        </p:spPr>
        <p:txBody>
          <a:bodyPr wrap="square" lIns="0" tIns="0" rIns="0" bIns="0" rtlCol="0" anchor="t"/>
          <a:lstStyle/>
          <a:p>
            <a:pPr algn="l" indent="0" marL="0">
              <a:lnSpc>
                <a:spcPct val="130000"/>
              </a:lnSpc>
              <a:buNone/>
            </a:pPr>
            <a:r>
              <a:rPr lang="en-US" sz="1100" dirty="0">
                <a:solidFill>
                  <a:srgbClr val="5D6E63"/>
                </a:solidFill>
                <a:latin typeface="Microsoft YaHei" pitchFamily="34" charset="0"/>
                <a:ea typeface="Microsoft YaHei" pitchFamily="34" charset="-122"/>
                <a:cs typeface="Microsoft YaHei" pitchFamily="34" charset="-120"/>
              </a:rPr>
              <a:t>平均每套 / 含费用   ·   应付 ¥15,500.00</a:t>
            </a:r>
            <a:endParaRPr lang="en-US" sz="1100" dirty="0"/>
          </a:p>
        </p:txBody>
      </p:sp>
      <p:sp>
        <p:nvSpPr>
          <p:cNvPr id="25" name="Text 19"/>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3 品类独立备选 · 搭配说明</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3 品类 · 方案 3</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Text 6"/>
          <p:cNvSpPr txBox="1"/>
          <p:nvPr/>
        </p:nvSpPr>
        <p:spPr>
          <a:xfrm>
            <a:off x="777240" y="1536192"/>
            <a:ext cx="10652760" cy="4480560"/>
          </a:xfrm>
          <a:prstGeom prst="rect">
            <a:avLst/>
          </a:prstGeom>
          <a:noFill/>
          <a:ln/>
        </p:spPr>
        <p:txBody>
          <a:bodyPr wrap="square" lIns="0" tIns="0" rIns="0" bIns="0" rtlCol="0" anchor="t"/>
          <a:lstStyle/>
          <a:p>
            <a:pPr algn="l" indent="0" marL="0">
              <a:lnSpc>
                <a:spcPct val="145000"/>
              </a:lnSpc>
              <a:buNone/>
            </a:pPr>
            <a:r>
              <a:rPr lang="en-US" sz="1500" dirty="0">
                <a:solidFill>
                  <a:srgbClr val="24352E"/>
                </a:solidFill>
                <a:latin typeface="Microsoft YaHei" pitchFamily="34" charset="0"/>
                <a:ea typeface="Microsoft YaHei" pitchFamily="34" charset="-122"/>
                <a:cs typeface="Microsoft YaHei" pitchFamily="34" charset="-120"/>
              </a:rPr>
              <a:t>同色系搭配，完整保留客户要求与单品资料。
商品：演示上衣（苔绿）；演示裤子（苔绿）；演示帽子（苔绿）
</a:t>
            </a:r>
            <a:endParaRPr lang="en-US" sz="1500" dirty="0"/>
          </a:p>
        </p:txBody>
      </p:sp>
      <p:sp>
        <p:nvSpPr>
          <p:cNvPr id="9" name="Text 7"/>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3 品类独立备选 · SKU 报价明细</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STYLE-3-0-0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43"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STYLE-3-0-1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演示上衣</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57"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STYLE-3-1-0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¥60.00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71"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STYLE-3-1-1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¥60.00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85" name="Table 5"/>
          <p:cNvGraphicFramePr>
            <a:graphicFrameLocks noGrp="1"/>
          </p:cNvGraphicFramePr>
          <p:nvPr>
            <p:extLst>
              <p:ext uri="{D42A27DB-BD31-4B8C-83A1-F6EECF244321}">
                <p14:modId xmlns:p14="http://schemas.microsoft.com/office/powerpoint/2010/main" val="1579011935"/>
              </p:ext>
            </p:extLst>
          </p:nvPr>
        </p:nvGraphicFramePr>
        <p:xfrm>
          <a:off x="621792" y="3511296"/>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STYLE-3-2-0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演示帽子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99" name="Table 6"/>
          <p:cNvGraphicFramePr>
            <a:graphicFrameLocks noGrp="1"/>
          </p:cNvGraphicFramePr>
          <p:nvPr>
            <p:extLst>
              <p:ext uri="{D42A27DB-BD31-4B8C-83A1-F6EECF244321}">
                <p14:modId xmlns:p14="http://schemas.microsoft.com/office/powerpoint/2010/main" val="1579011935"/>
              </p:ext>
            </p:extLst>
          </p:nvPr>
        </p:nvGraphicFramePr>
        <p:xfrm>
          <a:off x="621792" y="390448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STYLE-3-2-1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演示帽子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5"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3 品类独立备选 · 金额确认</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100 套 · 平均每套 ¥155.00，平均值仅作展示</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7589520"/>
                <a:gridCol w="338328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金额项目</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人民币金额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¥16,000.00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46"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整单优惠（仅作用于商品合计）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¥800.00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61"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附加费用 / 运费（已含税 / 不再加税）</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76"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本备选方案应付</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¥15,500.00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3"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4 品类 · 100 套 · 备选报价 · 客户任选，各方案独立核算</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Shape 6"/>
          <p:cNvSpPr/>
          <p:nvPr/>
        </p:nvSpPr>
        <p:spPr>
          <a:xfrm>
            <a:off x="786384" y="1554480"/>
            <a:ext cx="3072384" cy="1965960"/>
          </a:xfrm>
          <a:prstGeom prst="rect">
            <a:avLst/>
          </a:prstGeom>
          <a:solidFill>
            <a:srgbClr val="FFFFFF"/>
          </a:solidFill>
          <a:ln w="12700">
            <a:solidFill>
              <a:srgbClr val="FFFFFF">
                <a:alpha val="0"/>
              </a:srgbClr>
            </a:solidFill>
            <a:prstDash val="solid"/>
          </a:ln>
        </p:spPr>
      </p:sp>
      <p:pic>
        <p:nvPicPr>
          <p:cNvPr id="9" name="Image 0" descr="上衣 超长商品名称验证：秋季团购商务休闲纯棉可水洗长袖基础服饰含完整版型材质与洗护描述超长商品名称验证：秋季团购商务休闲纯棉可水洗长袖基础服饰含完整版型材质与洗护描述超长商品名称验证：秋季团购商务休闲纯棉可水洗长袖基础服饰含完整版型材质与洗护描述超长商品名称验证：秋季团购商务休闲纯棉可水洗长袖基础服饰含完整版型材质与洗护描述超长商品名称验证：秋季团购商务休闲纯棉可水洗长袖基础服饰含完整版型材质与洗护描述">    </p:cNvPr>
          <p:cNvPicPr>
            <a:picLocks noChangeAspect="1"/>
          </p:cNvPicPr>
          <p:nvPr/>
        </p:nvPicPr>
        <p:blipFill>
          <a:blip r:embed="rId1"/>
          <a:stretch>
            <a:fillRect/>
          </a:stretch>
        </p:blipFill>
        <p:spPr>
          <a:xfrm>
            <a:off x="996696" y="1664208"/>
            <a:ext cx="2651760" cy="1325880"/>
          </a:xfrm>
          <a:prstGeom prst="rect">
            <a:avLst/>
          </a:prstGeom>
        </p:spPr>
      </p:pic>
      <p:sp>
        <p:nvSpPr>
          <p:cNvPr id="10" name="Text 7"/>
          <p:cNvSpPr txBox="1"/>
          <p:nvPr/>
        </p:nvSpPr>
        <p:spPr>
          <a:xfrm>
            <a:off x="932688" y="309067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1. 上衣 · 苔绿</a:t>
            </a:r>
            <a:endParaRPr lang="en-US" sz="1200" dirty="0"/>
          </a:p>
        </p:txBody>
      </p:sp>
      <p:sp>
        <p:nvSpPr>
          <p:cNvPr id="11" name="Text 8"/>
          <p:cNvSpPr txBox="1"/>
          <p:nvPr/>
        </p:nvSpPr>
        <p:spPr>
          <a:xfrm>
            <a:off x="932688" y="330098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2" name="Shape 9"/>
          <p:cNvSpPr/>
          <p:nvPr/>
        </p:nvSpPr>
        <p:spPr>
          <a:xfrm>
            <a:off x="4069080" y="1554480"/>
            <a:ext cx="3072384" cy="1965960"/>
          </a:xfrm>
          <a:prstGeom prst="rect">
            <a:avLst/>
          </a:prstGeom>
          <a:solidFill>
            <a:srgbClr val="FFFFFF"/>
          </a:solidFill>
          <a:ln w="12700">
            <a:solidFill>
              <a:srgbClr val="FFFFFF">
                <a:alpha val="0"/>
              </a:srgbClr>
            </a:solidFill>
            <a:prstDash val="solid"/>
          </a:ln>
        </p:spPr>
      </p:sp>
      <p:pic>
        <p:nvPicPr>
          <p:cNvPr id="13" name="Image 1" descr="裤子 演示裤子">    </p:cNvPr>
          <p:cNvPicPr>
            <a:picLocks noChangeAspect="1"/>
          </p:cNvPicPr>
          <p:nvPr/>
        </p:nvPicPr>
        <p:blipFill>
          <a:blip r:embed="rId2"/>
          <a:stretch>
            <a:fillRect/>
          </a:stretch>
        </p:blipFill>
        <p:spPr>
          <a:xfrm>
            <a:off x="4279392" y="1664208"/>
            <a:ext cx="2651760" cy="1325880"/>
          </a:xfrm>
          <a:prstGeom prst="rect">
            <a:avLst/>
          </a:prstGeom>
        </p:spPr>
      </p:pic>
      <p:sp>
        <p:nvSpPr>
          <p:cNvPr id="14" name="Text 10"/>
          <p:cNvSpPr txBox="1"/>
          <p:nvPr/>
        </p:nvSpPr>
        <p:spPr>
          <a:xfrm>
            <a:off x="4215384" y="309067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2. 裤子 · 苔绿</a:t>
            </a:r>
            <a:endParaRPr lang="en-US" sz="1200" dirty="0"/>
          </a:p>
        </p:txBody>
      </p:sp>
      <p:sp>
        <p:nvSpPr>
          <p:cNvPr id="15" name="Text 11"/>
          <p:cNvSpPr txBox="1"/>
          <p:nvPr/>
        </p:nvSpPr>
        <p:spPr>
          <a:xfrm>
            <a:off x="4215384" y="330098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16" name="Shape 12"/>
          <p:cNvSpPr/>
          <p:nvPr/>
        </p:nvSpPr>
        <p:spPr>
          <a:xfrm>
            <a:off x="786384" y="3721608"/>
            <a:ext cx="3072384" cy="1993392"/>
          </a:xfrm>
          <a:prstGeom prst="rect">
            <a:avLst/>
          </a:prstGeom>
          <a:solidFill>
            <a:srgbClr val="FFFFFF"/>
          </a:solidFill>
          <a:ln w="12700">
            <a:solidFill>
              <a:srgbClr val="FFFFFF">
                <a:alpha val="0"/>
              </a:srgbClr>
            </a:solidFill>
            <a:prstDash val="solid"/>
          </a:ln>
        </p:spPr>
      </p:sp>
      <p:pic>
        <p:nvPicPr>
          <p:cNvPr id="17" name="Image 2" descr="帽子 演示帽子">    </p:cNvPr>
          <p:cNvPicPr>
            <a:picLocks noChangeAspect="1"/>
          </p:cNvPicPr>
          <p:nvPr/>
        </p:nvPicPr>
        <p:blipFill>
          <a:blip r:embed="rId3"/>
          <a:stretch>
            <a:fillRect/>
          </a:stretch>
        </p:blipFill>
        <p:spPr>
          <a:xfrm>
            <a:off x="969264" y="3831336"/>
            <a:ext cx="2706624" cy="1353312"/>
          </a:xfrm>
          <a:prstGeom prst="rect">
            <a:avLst/>
          </a:prstGeom>
        </p:spPr>
      </p:pic>
      <p:sp>
        <p:nvSpPr>
          <p:cNvPr id="18" name="Text 13"/>
          <p:cNvSpPr txBox="1"/>
          <p:nvPr/>
        </p:nvSpPr>
        <p:spPr>
          <a:xfrm>
            <a:off x="932688" y="528523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3. 帽子 · 苔绿</a:t>
            </a:r>
            <a:endParaRPr lang="en-US" sz="1200" dirty="0"/>
          </a:p>
        </p:txBody>
      </p:sp>
      <p:sp>
        <p:nvSpPr>
          <p:cNvPr id="19" name="Text 14"/>
          <p:cNvSpPr txBox="1"/>
          <p:nvPr/>
        </p:nvSpPr>
        <p:spPr>
          <a:xfrm>
            <a:off x="932688" y="549554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20" name="Shape 15"/>
          <p:cNvSpPr/>
          <p:nvPr/>
        </p:nvSpPr>
        <p:spPr>
          <a:xfrm>
            <a:off x="4069080" y="3721608"/>
            <a:ext cx="3072384" cy="1993392"/>
          </a:xfrm>
          <a:prstGeom prst="rect">
            <a:avLst/>
          </a:prstGeom>
          <a:solidFill>
            <a:srgbClr val="FFFFFF"/>
          </a:solidFill>
          <a:ln w="12700">
            <a:solidFill>
              <a:srgbClr val="FFFFFF">
                <a:alpha val="0"/>
              </a:srgbClr>
            </a:solidFill>
            <a:prstDash val="solid"/>
          </a:ln>
        </p:spPr>
      </p:sp>
      <p:pic>
        <p:nvPicPr>
          <p:cNvPr id="21" name="Image 3" descr="鞋 演示鞋">    </p:cNvPr>
          <p:cNvPicPr>
            <a:picLocks noChangeAspect="1"/>
          </p:cNvPicPr>
          <p:nvPr/>
        </p:nvPicPr>
        <p:blipFill>
          <a:blip r:embed="rId4"/>
          <a:stretch>
            <a:fillRect/>
          </a:stretch>
        </p:blipFill>
        <p:spPr>
          <a:xfrm>
            <a:off x="4251960" y="3831336"/>
            <a:ext cx="2706624" cy="1353312"/>
          </a:xfrm>
          <a:prstGeom prst="rect">
            <a:avLst/>
          </a:prstGeom>
        </p:spPr>
      </p:pic>
      <p:sp>
        <p:nvSpPr>
          <p:cNvPr id="22" name="Text 16"/>
          <p:cNvSpPr txBox="1"/>
          <p:nvPr/>
        </p:nvSpPr>
        <p:spPr>
          <a:xfrm>
            <a:off x="4215384" y="5285232"/>
            <a:ext cx="2779776" cy="201168"/>
          </a:xfrm>
          <a:prstGeom prst="rect">
            <a:avLst/>
          </a:prstGeom>
          <a:noFill/>
          <a:ln/>
        </p:spPr>
        <p:txBody>
          <a:bodyPr wrap="square" lIns="0" tIns="0" rIns="0" bIns="0" rtlCol="0" anchor="t"/>
          <a:lstStyle/>
          <a:p>
            <a:pPr algn="l" indent="0" marL="0">
              <a:lnSpc>
                <a:spcPct val="130000"/>
              </a:lnSpc>
              <a:buNone/>
            </a:pPr>
            <a:r>
              <a:rPr lang="en-US" sz="1200" b="1" dirty="0">
                <a:solidFill>
                  <a:srgbClr val="24352E"/>
                </a:solidFill>
                <a:latin typeface="Microsoft YaHei" pitchFamily="34" charset="0"/>
                <a:ea typeface="Microsoft YaHei" pitchFamily="34" charset="-122"/>
                <a:cs typeface="Microsoft YaHei" pitchFamily="34" charset="-120"/>
              </a:rPr>
              <a:t>4. 鞋 · 苔绿</a:t>
            </a:r>
            <a:endParaRPr lang="en-US" sz="1200" dirty="0"/>
          </a:p>
        </p:txBody>
      </p:sp>
      <p:sp>
        <p:nvSpPr>
          <p:cNvPr id="23" name="Text 17"/>
          <p:cNvSpPr txBox="1"/>
          <p:nvPr/>
        </p:nvSpPr>
        <p:spPr>
          <a:xfrm>
            <a:off x="4215384" y="5495544"/>
            <a:ext cx="2779776" cy="137160"/>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SKU / 尺码与金额见明细页</a:t>
            </a:r>
            <a:endParaRPr lang="en-US" sz="850" dirty="0"/>
          </a:p>
        </p:txBody>
      </p:sp>
      <p:sp>
        <p:nvSpPr>
          <p:cNvPr id="24" name="Shape 18"/>
          <p:cNvSpPr/>
          <p:nvPr/>
        </p:nvSpPr>
        <p:spPr>
          <a:xfrm>
            <a:off x="7406640" y="1554480"/>
            <a:ext cx="4069080" cy="3090672"/>
          </a:xfrm>
          <a:prstGeom prst="rect">
            <a:avLst/>
          </a:prstGeom>
          <a:solidFill>
            <a:srgbClr val="EAF0E7"/>
          </a:solidFill>
          <a:ln w="12700">
            <a:solidFill>
              <a:srgbClr val="EAF0E7">
                <a:alpha val="0"/>
              </a:srgbClr>
            </a:solidFill>
            <a:prstDash val="solid"/>
          </a:ln>
        </p:spPr>
      </p:sp>
      <p:pic>
        <p:nvPicPr>
          <p:cNvPr id="25" name="Image 4" descr="AI 搭配效果示意 · 原型样例">    </p:cNvPr>
          <p:cNvPicPr>
            <a:picLocks noChangeAspect="1"/>
          </p:cNvPicPr>
          <p:nvPr/>
        </p:nvPicPr>
        <p:blipFill>
          <a:blip r:embed="rId5"/>
          <a:stretch>
            <a:fillRect/>
          </a:stretch>
        </p:blipFill>
        <p:spPr>
          <a:xfrm>
            <a:off x="7534656" y="2055114"/>
            <a:ext cx="3813048" cy="1906524"/>
          </a:xfrm>
          <a:prstGeom prst="rect">
            <a:avLst/>
          </a:prstGeom>
        </p:spPr>
      </p:pic>
      <p:sp>
        <p:nvSpPr>
          <p:cNvPr id="26" name="Text 19"/>
          <p:cNvSpPr txBox="1"/>
          <p:nvPr/>
        </p:nvSpPr>
        <p:spPr>
          <a:xfrm>
            <a:off x="7516368" y="4398264"/>
            <a:ext cx="3849624" cy="155448"/>
          </a:xfrm>
          <a:prstGeom prst="rect">
            <a:avLst/>
          </a:prstGeom>
          <a:noFill/>
          <a:ln/>
        </p:spPr>
        <p:txBody>
          <a:bodyPr wrap="square" lIns="0" tIns="0" rIns="0" bIns="0" rtlCol="0" anchor="t"/>
          <a:lstStyle/>
          <a:p>
            <a:pPr algn="ctr" indent="0" marL="0">
              <a:lnSpc>
                <a:spcPct val="130000"/>
              </a:lnSpc>
              <a:buNone/>
            </a:pPr>
            <a:r>
              <a:rPr lang="en-US" sz="950" dirty="0">
                <a:solidFill>
                  <a:srgbClr val="5D6E63"/>
                </a:solidFill>
                <a:latin typeface="Microsoft YaHei" pitchFamily="34" charset="0"/>
                <a:ea typeface="Microsoft YaHei" pitchFamily="34" charset="-122"/>
                <a:cs typeface="Microsoft YaHei" pitchFamily="34" charset="-120"/>
              </a:rPr>
              <a:t>AI 搭配效果示意 · 原型样例</a:t>
            </a:r>
            <a:endParaRPr lang="en-US" sz="950" dirty="0"/>
          </a:p>
        </p:txBody>
      </p:sp>
      <p:sp>
        <p:nvSpPr>
          <p:cNvPr id="27" name="Text 20"/>
          <p:cNvSpPr txBox="1"/>
          <p:nvPr/>
        </p:nvSpPr>
        <p:spPr>
          <a:xfrm>
            <a:off x="7479792" y="4773168"/>
            <a:ext cx="3922776" cy="475488"/>
          </a:xfrm>
          <a:prstGeom prst="rect">
            <a:avLst/>
          </a:prstGeom>
          <a:noFill/>
          <a:ln/>
        </p:spPr>
        <p:txBody>
          <a:bodyPr wrap="square" lIns="0" tIns="0" rIns="0" bIns="0" rtlCol="0" anchor="t"/>
          <a:lstStyle/>
          <a:p>
            <a:pPr algn="l" indent="0" marL="0">
              <a:lnSpc>
                <a:spcPct val="130000"/>
              </a:lnSpc>
              <a:buNone/>
            </a:pPr>
            <a:r>
              <a:rPr lang="en-US" sz="2700" b="1" dirty="0">
                <a:solidFill>
                  <a:srgbClr val="355B49"/>
                </a:solidFill>
                <a:latin typeface="Microsoft YaHei" pitchFamily="34" charset="0"/>
                <a:ea typeface="Microsoft YaHei" pitchFamily="34" charset="-122"/>
                <a:cs typeface="Microsoft YaHei" pitchFamily="34" charset="-120"/>
              </a:rPr>
              <a:t>¥240.50</a:t>
            </a:r>
            <a:endParaRPr lang="en-US" sz="2700" dirty="0"/>
          </a:p>
        </p:txBody>
      </p:sp>
      <p:sp>
        <p:nvSpPr>
          <p:cNvPr id="28" name="Text 21"/>
          <p:cNvSpPr txBox="1"/>
          <p:nvPr/>
        </p:nvSpPr>
        <p:spPr>
          <a:xfrm>
            <a:off x="7479792" y="5358384"/>
            <a:ext cx="3922776" cy="356616"/>
          </a:xfrm>
          <a:prstGeom prst="rect">
            <a:avLst/>
          </a:prstGeom>
          <a:noFill/>
          <a:ln/>
        </p:spPr>
        <p:txBody>
          <a:bodyPr wrap="square" lIns="0" tIns="0" rIns="0" bIns="0" rtlCol="0" anchor="t"/>
          <a:lstStyle/>
          <a:p>
            <a:pPr algn="l" indent="0" marL="0">
              <a:lnSpc>
                <a:spcPct val="130000"/>
              </a:lnSpc>
              <a:buNone/>
            </a:pPr>
            <a:r>
              <a:rPr lang="en-US" sz="1100" dirty="0">
                <a:solidFill>
                  <a:srgbClr val="5D6E63"/>
                </a:solidFill>
                <a:latin typeface="Microsoft YaHei" pitchFamily="34" charset="0"/>
                <a:ea typeface="Microsoft YaHei" pitchFamily="34" charset="-122"/>
                <a:cs typeface="Microsoft YaHei" pitchFamily="34" charset="-120"/>
              </a:rPr>
              <a:t>平均每套 / 含费用   ·   应付 ¥24,050.00</a:t>
            </a:r>
            <a:endParaRPr lang="en-US" sz="1100" dirty="0"/>
          </a:p>
        </p:txBody>
      </p:sp>
      <p:sp>
        <p:nvSpPr>
          <p:cNvPr id="29" name="Text 22"/>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搭配说明</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4 品类 · 方案 4</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Text 6"/>
          <p:cNvSpPr txBox="1"/>
          <p:nvPr/>
        </p:nvSpPr>
        <p:spPr>
          <a:xfrm>
            <a:off x="777240" y="1536192"/>
            <a:ext cx="10652760" cy="4480560"/>
          </a:xfrm>
          <a:prstGeom prst="rect">
            <a:avLst/>
          </a:prstGeom>
          <a:noFill/>
          <a:ln/>
        </p:spPr>
        <p:txBody>
          <a:bodyPr wrap="square" lIns="0" tIns="0" rIns="0" bIns="0" rtlCol="0" anchor="t"/>
          <a:lstStyle/>
          <a:p>
            <a:pPr algn="l" indent="0" marL="0">
              <a:lnSpc>
                <a:spcPct val="145000"/>
              </a:lnSpc>
              <a:buNone/>
            </a:pPr>
            <a:r>
              <a:rPr lang="en-US" sz="1500" dirty="0">
                <a:solidFill>
                  <a:srgbClr val="24352E"/>
                </a:solidFill>
                <a:latin typeface="Microsoft YaHei" pitchFamily="34" charset="0"/>
                <a:ea typeface="Microsoft YaHei" pitchFamily="34" charset="-122"/>
                <a:cs typeface="Microsoft YaHei" pitchFamily="34" charset="-120"/>
              </a:rPr>
              <a:t>同色系搭配，完整保留客户要求与单品资料。
商品：超长商品名称验证：秋季团购商务休闲纯棉可水洗长袖基础服饰含完整版型材质与洗护描述超长商品名称验
证：秋季团购商务休闲纯棉可水洗长袖基础服饰含完整版型材质与洗护描述超长商品名称验证：秋季团购商务休闲
纯棉可水洗长袖基础服饰含完整版型材质与洗护描述超长商品名称验证：秋季团购商务休闲纯棉可水洗长袖基础服
饰含完整版型材质与洗护描述超长商品名称验证：秋季团购商务休闲纯棉可水洗长袖基础服饰含完整版型材质与洗
护描述（苔绿）；演示裤子（苔绿）；演示帽子（苔绿）；演示鞋（苔绿）
</a:t>
            </a:r>
            <a:endParaRPr lang="en-US" sz="1500" dirty="0"/>
          </a:p>
        </p:txBody>
      </p:sp>
      <p:sp>
        <p:nvSpPr>
          <p:cNvPr id="9" name="Text 7"/>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73"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91" name="Table 4"/>
          <p:cNvGraphicFramePr>
            <a:graphicFrameLocks noGrp="1"/>
          </p:cNvGraphicFramePr>
          <p:nvPr>
            <p:extLst>
              <p:ext uri="{D42A27DB-BD31-4B8C-83A1-F6EECF244321}">
                <p14:modId xmlns:p14="http://schemas.microsoft.com/office/powerpoint/2010/main" val="1579011935"/>
              </p:ext>
            </p:extLst>
          </p:nvPr>
        </p:nvGraphicFramePr>
        <p:xfrm>
          <a:off x="621792" y="453771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09"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2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2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77"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2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9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尺码3</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15"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3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2）</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3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3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81"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STYLE-4-0-3</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尺码4</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01"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4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21"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4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3）</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4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64"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STYLE-4-0-4</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尺码5</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85"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5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0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5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27"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5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4）</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STYLE-4-0-5</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尺码6</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67"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6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89"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6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11" name="Table 4"/>
          <p:cNvGraphicFramePr>
            <a:graphicFrameLocks noGrp="1"/>
          </p:cNvGraphicFramePr>
          <p:nvPr>
            <p:extLst>
              <p:ext uri="{D42A27DB-BD31-4B8C-83A1-F6EECF244321}">
                <p14:modId xmlns:p14="http://schemas.microsoft.com/office/powerpoint/2010/main" val="1579011935"/>
              </p:ext>
            </p:extLst>
          </p:nvPr>
        </p:nvGraphicFramePr>
        <p:xfrm>
          <a:off x="621792" y="453771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6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33"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STYLE-4-0-6</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尺码7</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5）</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7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70"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7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93"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7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1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STYLE-4-0-7</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尺码8</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39"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8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6）</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8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73"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8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97"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STYLE-4-0-8</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尺码9</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21"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9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45"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9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7）</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9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76"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STYLE-4-0-9</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01"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10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2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10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51"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10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8）</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79"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11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05"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11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31" name="Table 4"/>
          <p:cNvGraphicFramePr>
            <a:graphicFrameLocks noGrp="1"/>
          </p:cNvGraphicFramePr>
          <p:nvPr>
            <p:extLst>
              <p:ext uri="{D42A27DB-BD31-4B8C-83A1-F6EECF244321}">
                <p14:modId xmlns:p14="http://schemas.microsoft.com/office/powerpoint/2010/main" val="1579011935"/>
              </p:ext>
            </p:extLst>
          </p:nvPr>
        </p:nvGraphicFramePr>
        <p:xfrm>
          <a:off x="621792" y="453771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11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57"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9）</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12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82"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12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09"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12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3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尺码13</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63"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13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10）</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13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85"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13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13"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STYLE-4-0-13</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尺码14</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41"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14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69"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14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11）</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14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88"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STYLE-4-0-14</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尺码15</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17"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15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4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15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75"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15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12）</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61"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STYLE-4-0-15</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尺码16</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91"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16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21"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16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51" name="Table 4"/>
          <p:cNvGraphicFramePr>
            <a:graphicFrameLocks noGrp="1"/>
          </p:cNvGraphicFramePr>
          <p:nvPr>
            <p:extLst>
              <p:ext uri="{D42A27DB-BD31-4B8C-83A1-F6EECF244321}">
                <p14:modId xmlns:p14="http://schemas.microsoft.com/office/powerpoint/2010/main" val="1579011935"/>
              </p:ext>
            </p:extLst>
          </p:nvPr>
        </p:nvGraphicFramePr>
        <p:xfrm>
          <a:off x="621792" y="453771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16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81"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STYLE-4-0-16</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尺码17</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13）</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17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94"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17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25" name="Table 3"/>
          <p:cNvGraphicFramePr>
            <a:graphicFrameLocks noGrp="1"/>
          </p:cNvGraphicFramePr>
          <p:nvPr>
            <p:extLst>
              <p:ext uri="{D42A27DB-BD31-4B8C-83A1-F6EECF244321}">
                <p14:modId xmlns:p14="http://schemas.microsoft.com/office/powerpoint/2010/main" val="1579011935"/>
              </p:ext>
            </p:extLst>
          </p:nvPr>
        </p:nvGraphicFramePr>
        <p:xfrm>
          <a:off x="621792" y="3671316"/>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17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5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STYLE-4-0-17</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尺码18</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87"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18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14）</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18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97" name="Table 2"/>
          <p:cNvGraphicFramePr>
            <a:graphicFrameLocks noGrp="1"/>
          </p:cNvGraphicFramePr>
          <p:nvPr>
            <p:extLst>
              <p:ext uri="{D42A27DB-BD31-4B8C-83A1-F6EECF244321}">
                <p14:modId xmlns:p14="http://schemas.microsoft.com/office/powerpoint/2010/main" val="1579011935"/>
              </p:ext>
            </p:extLst>
          </p:nvPr>
        </p:nvGraphicFramePr>
        <p:xfrm>
          <a:off x="621792" y="280492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18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29"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STYLE-4-0-18</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尺码19</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61"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19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93"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19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15）</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19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00"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STYLE-4-0-19</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¥80.00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33" name="Table 3"/>
          <p:cNvGraphicFramePr>
            <a:graphicFrameLocks noGrp="1"/>
          </p:cNvGraphicFramePr>
          <p:nvPr>
            <p:extLst>
              <p:ext uri="{D42A27DB-BD31-4B8C-83A1-F6EECF244321}">
                <p14:modId xmlns:p14="http://schemas.microsoft.com/office/powerpoint/2010/main" val="1579011935"/>
              </p:ext>
            </p:extLst>
          </p:nvPr>
        </p:nvGraphicFramePr>
        <p:xfrm>
          <a:off x="621792" y="3198114"/>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20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型材质与洗护描述超长商品名称验证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66" name="Table 4"/>
          <p:cNvGraphicFramePr>
            <a:graphicFrameLocks noGrp="1"/>
          </p:cNvGraphicFramePr>
          <p:nvPr>
            <p:extLst>
              <p:ext uri="{D42A27DB-BD31-4B8C-83A1-F6EECF244321}">
                <p14:modId xmlns:p14="http://schemas.microsoft.com/office/powerpoint/2010/main" val="1579011935"/>
              </p:ext>
            </p:extLst>
          </p:nvPr>
        </p:nvGraphicFramePr>
        <p:xfrm>
          <a:off x="621792" y="4064508"/>
          <a:ext cx="10972800" cy="866394"/>
        </p:xfrm>
        <a:graphic>
          <a:graphicData uri="http://schemas.openxmlformats.org/drawingml/2006/table">
            <a:tbl>
              <a:tblPr/>
              <a:tblGrid>
                <a:gridCol w="2011680"/>
                <a:gridCol w="2788920"/>
                <a:gridCol w="1600200"/>
                <a:gridCol w="1188720"/>
                <a:gridCol w="1645920"/>
                <a:gridCol w="1737360"/>
              </a:tblGrid>
              <a:tr h="866394">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20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：秋季团购商务休闲纯棉可水洗长袖</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基础服饰含完整版型材质与洗护描述</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超长商品名称验证：秋季团购商务休</a:t>
                      </a:r>
                      <a:endParaRPr lang="en-US" sz="1050" dirty="0">
                        <a:latin typeface="Microsoft YaHei" charset="0"/>
                        <a:ea typeface="Microsoft YaHei" charset="0"/>
                        <a:cs typeface="Microsoft YaHei" charset="0"/>
                      </a:endParaRPr>
                    </a:p>
                    <a:p>
                      <a:pPr indent="0" marL="0">
                        <a:buNone/>
                      </a:pPr>
                      <a:r>
                        <a:rPr lang="en-US" sz="1050" dirty="0">
                          <a:solidFill>
                            <a:srgbClr val="24352E"/>
                          </a:solidFill>
                          <a:latin typeface="Microsoft YaHei" pitchFamily="34" charset="0"/>
                          <a:ea typeface="Microsoft YaHei" pitchFamily="34" charset="-122"/>
                          <a:cs typeface="Microsoft YaHei" pitchFamily="34" charset="-120"/>
                        </a:rPr>
                        <a:t>闲纯棉可水洗长袖基础服饰含完整版</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99" name="Table 5"/>
          <p:cNvGraphicFramePr>
            <a:graphicFrameLocks noGrp="1"/>
          </p:cNvGraphicFramePr>
          <p:nvPr>
            <p:extLst>
              <p:ext uri="{D42A27DB-BD31-4B8C-83A1-F6EECF244321}">
                <p14:modId xmlns:p14="http://schemas.microsoft.com/office/powerpoint/2010/main" val="1579011935"/>
              </p:ext>
            </p:extLst>
          </p:nvPr>
        </p:nvGraphicFramePr>
        <p:xfrm>
          <a:off x="621792" y="493090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20 续</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型材质与洗护描述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232" name="Table 6"/>
          <p:cNvGraphicFramePr>
            <a:graphicFrameLocks noGrp="1"/>
          </p:cNvGraphicFramePr>
          <p:nvPr>
            <p:extLst>
              <p:ext uri="{D42A27DB-BD31-4B8C-83A1-F6EECF244321}">
                <p14:modId xmlns:p14="http://schemas.microsoft.com/office/powerpoint/2010/main" val="1579011935"/>
              </p:ext>
            </p:extLst>
          </p:nvPr>
        </p:nvGraphicFramePr>
        <p:xfrm>
          <a:off x="621792" y="5324094"/>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STYLE-4-1-0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¥60.00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sp>
        <p:nvSpPr>
          <p:cNvPr id="15"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SKU 报价明细（续 16）</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人民币 · 含税销售价，不重复加税 · 数量为具体尺码采购量</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2011680"/>
                <a:gridCol w="2788920"/>
                <a:gridCol w="1600200"/>
                <a:gridCol w="1188720"/>
                <a:gridCol w="1645920"/>
                <a:gridCol w="173736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SKU / 款号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商品名称</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颜色 / 尺码</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数量</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销售单价</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行金额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STYLE-4-1-1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演示裤子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¥60.00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03"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STYLE-4-2-0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演示帽子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37"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STYLE-4-2-1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演示帽子</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件</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¥1,000.00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71"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STYLE-4-3-0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演示鞋</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双</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¥90.00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¥4,500.00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205" name="Table 5"/>
          <p:cNvGraphicFramePr>
            <a:graphicFrameLocks noGrp="1"/>
          </p:cNvGraphicFramePr>
          <p:nvPr>
            <p:extLst>
              <p:ext uri="{D42A27DB-BD31-4B8C-83A1-F6EECF244321}">
                <p14:modId xmlns:p14="http://schemas.microsoft.com/office/powerpoint/2010/main" val="1579011935"/>
              </p:ext>
            </p:extLst>
          </p:nvPr>
        </p:nvGraphicFramePr>
        <p:xfrm>
          <a:off x="621792" y="3511296"/>
          <a:ext cx="10972800" cy="393192"/>
        </p:xfrm>
        <a:graphic>
          <a:graphicData uri="http://schemas.openxmlformats.org/drawingml/2006/table">
            <a:tbl>
              <a:tblPr/>
              <a:tblGrid>
                <a:gridCol w="2011680"/>
                <a:gridCol w="2788920"/>
                <a:gridCol w="1600200"/>
                <a:gridCol w="1188720"/>
                <a:gridCol w="1645920"/>
                <a:gridCol w="173736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STYLE-4-3-1</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演示鞋</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苔绿 / 尺码2</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50 双</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¥90.00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¥4,500.00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4"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4 品类独立备选 · 金额确认</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100 套 · 平均每套 ¥240.50，平均值仅作展示</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21792" y="1527048"/>
          <a:ext cx="10972800" cy="411480"/>
        </p:xfrm>
        <a:graphic>
          <a:graphicData uri="http://schemas.openxmlformats.org/drawingml/2006/table">
            <a:tbl>
              <a:tblPr/>
              <a:tblGrid>
                <a:gridCol w="7589520"/>
                <a:gridCol w="3383280"/>
              </a:tblGrid>
              <a:tr h="411480">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金额项目</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c>
                  <a:txBody>
                    <a:bodyPr/>
                    <a:lstStyle/>
                    <a:p>
                      <a:pPr indent="0" marL="0">
                        <a:buNone/>
                      </a:pPr>
                      <a:r>
                        <a:rPr lang="en-US" sz="1050" b="1" dirty="0">
                          <a:solidFill>
                            <a:srgbClr val="FFFFFF"/>
                          </a:solidFill>
                          <a:latin typeface="Microsoft YaHei" pitchFamily="34" charset="0"/>
                          <a:ea typeface="Microsoft YaHei" pitchFamily="34" charset="-122"/>
                          <a:cs typeface="Microsoft YaHei" pitchFamily="34" charset="-120"/>
                        </a:rPr>
                        <a:t>人民币金额</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355B49"/>
                    </a:solidFill>
                  </a:tcPr>
                </a:tc>
              </a:tr>
            </a:tbl>
          </a:graphicData>
        </a:graphic>
      </p:graphicFrame>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621792" y="1938528"/>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¥25,000.00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06" name="Table 2"/>
          <p:cNvGraphicFramePr>
            <a:graphicFrameLocks noGrp="1"/>
          </p:cNvGraphicFramePr>
          <p:nvPr>
            <p:extLst>
              <p:ext uri="{D42A27DB-BD31-4B8C-83A1-F6EECF244321}">
                <p14:modId xmlns:p14="http://schemas.microsoft.com/office/powerpoint/2010/main" val="1579011935"/>
              </p:ext>
            </p:extLst>
          </p:nvPr>
        </p:nvGraphicFramePr>
        <p:xfrm>
          <a:off x="621792" y="2331720"/>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整单优惠（仅作用于商品合计）</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 ¥1,250.00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graphicFrame>
        <p:nvGraphicFramePr>
          <p:cNvPr id="141" name="Table 3"/>
          <p:cNvGraphicFramePr>
            <a:graphicFrameLocks noGrp="1"/>
          </p:cNvGraphicFramePr>
          <p:nvPr>
            <p:extLst>
              <p:ext uri="{D42A27DB-BD31-4B8C-83A1-F6EECF244321}">
                <p14:modId xmlns:p14="http://schemas.microsoft.com/office/powerpoint/2010/main" val="1579011935"/>
              </p:ext>
            </p:extLst>
          </p:nvPr>
        </p:nvGraphicFramePr>
        <p:xfrm>
          <a:off x="621792" y="2724912"/>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附加费用 / 运费（已含税 / 不再加税）</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¥300.00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FFFFFF"/>
                    </a:solidFill>
                  </a:tcPr>
                </a:tc>
              </a:tr>
            </a:tbl>
          </a:graphicData>
        </a:graphic>
      </p:graphicFrame>
      <p:graphicFrame>
        <p:nvGraphicFramePr>
          <p:cNvPr id="176" name="Table 4"/>
          <p:cNvGraphicFramePr>
            <a:graphicFrameLocks noGrp="1"/>
          </p:cNvGraphicFramePr>
          <p:nvPr>
            <p:extLst>
              <p:ext uri="{D42A27DB-BD31-4B8C-83A1-F6EECF244321}">
                <p14:modId xmlns:p14="http://schemas.microsoft.com/office/powerpoint/2010/main" val="1579011935"/>
              </p:ext>
            </p:extLst>
          </p:nvPr>
        </p:nvGraphicFramePr>
        <p:xfrm>
          <a:off x="621792" y="3118104"/>
          <a:ext cx="10972800" cy="393192"/>
        </p:xfrm>
        <a:graphic>
          <a:graphicData uri="http://schemas.openxmlformats.org/drawingml/2006/table">
            <a:tbl>
              <a:tblPr/>
              <a:tblGrid>
                <a:gridCol w="7589520"/>
                <a:gridCol w="3383280"/>
              </a:tblGrid>
              <a:tr h="393192">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本备选方案应付</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c>
                  <a:txBody>
                    <a:bodyPr/>
                    <a:lstStyle/>
                    <a:p>
                      <a:pPr indent="0" marL="0">
                        <a:buNone/>
                      </a:pPr>
                      <a:r>
                        <a:rPr lang="en-US" sz="1050" dirty="0">
                          <a:solidFill>
                            <a:srgbClr val="24352E"/>
                          </a:solidFill>
                          <a:latin typeface="Microsoft YaHei" pitchFamily="34" charset="0"/>
                          <a:ea typeface="Microsoft YaHei" pitchFamily="34" charset="-122"/>
                          <a:cs typeface="Microsoft YaHei" pitchFamily="34" charset="-120"/>
                        </a:rPr>
                        <a:t>¥24,050.00</a:t>
                      </a:r>
                      <a:endParaRPr lang="en-US" sz="1050" dirty="0">
                        <a:latin typeface="Microsoft YaHei" charset="0"/>
                        <a:ea typeface="Microsoft YaHei" charset="0"/>
                        <a:cs typeface="Microsoft YaHei" charset="0"/>
                      </a:endParaRPr>
                    </a:p>
                  </a:txBody>
                  <a:tcPr marL="64008" marR="64008" marT="64008" marB="36576" anchor="mid">
                    <a:lnL w="6350" cap="flat" cmpd="sng" algn="ctr">
                      <a:solidFill>
                        <a:srgbClr val="DCE2D9"/>
                      </a:solidFill>
                      <a:prstDash val="solid"/>
                      <a:round/>
                      <a:headEnd type="none" w="med" len="med"/>
                      <a:tailEnd type="none" w="med" len="med"/>
                    </a:lnL>
                    <a:lnR w="6350" cap="flat" cmpd="sng" algn="ctr">
                      <a:solidFill>
                        <a:srgbClr val="DCE2D9"/>
                      </a:solidFill>
                      <a:prstDash val="solid"/>
                      <a:round/>
                      <a:headEnd type="none" w="med" len="med"/>
                      <a:tailEnd type="none" w="med" len="med"/>
                    </a:lnR>
                    <a:lnT w="6350" cap="flat" cmpd="sng" algn="ctr">
                      <a:solidFill>
                        <a:srgbClr val="DCE2D9"/>
                      </a:solidFill>
                      <a:prstDash val="solid"/>
                      <a:round/>
                      <a:headEnd type="none" w="med" len="med"/>
                      <a:tailEnd type="none" w="med" len="med"/>
                    </a:lnT>
                    <a:lnB w="6350" cap="flat" cmpd="sng" algn="ctr">
                      <a:solidFill>
                        <a:srgbClr val="DCE2D9"/>
                      </a:solidFill>
                      <a:prstDash val="solid"/>
                      <a:round/>
                      <a:headEnd type="none" w="med" len="med"/>
                      <a:tailEnd type="none" w="med" len="med"/>
                    </a:lnB>
                    <a:solidFill>
                      <a:srgbClr val="EAF0E7"/>
                    </a:solidFill>
                  </a:tcPr>
                </a:tc>
              </a:tr>
            </a:tbl>
          </a:graphicData>
        </a:graphic>
      </p:graphicFrame>
      <p:sp>
        <p:nvSpPr>
          <p:cNvPr id="13" name="Text 6"/>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402336" y="384048"/>
            <a:ext cx="50292" cy="475488"/>
          </a:xfrm>
          <a:prstGeom prst="rect">
            <a:avLst/>
          </a:prstGeom>
          <a:solidFill>
            <a:srgbClr val="355B49"/>
          </a:solidFill>
          <a:ln w="12700">
            <a:solidFill>
              <a:srgbClr val="355B49">
                <a:alpha val="0"/>
              </a:srgbClr>
            </a:solidFill>
            <a:prstDash val="solid"/>
          </a:ln>
        </p:spPr>
      </p:sp>
      <p:sp>
        <p:nvSpPr>
          <p:cNvPr id="3" name="Text 1"/>
          <p:cNvSpPr txBox="1"/>
          <p:nvPr/>
        </p:nvSpPr>
        <p:spPr>
          <a:xfrm>
            <a:off x="621792" y="356616"/>
            <a:ext cx="10241280" cy="585216"/>
          </a:xfrm>
          <a:prstGeom prst="rect">
            <a:avLst/>
          </a:prstGeom>
          <a:noFill/>
          <a:ln/>
        </p:spPr>
        <p:txBody>
          <a:bodyPr wrap="square" lIns="0" tIns="0" rIns="0" bIns="0" rtlCol="0" anchor="t"/>
          <a:lstStyle/>
          <a:p>
            <a:pPr algn="l" indent="0" marL="0">
              <a:lnSpc>
                <a:spcPct val="130000"/>
              </a:lnSpc>
              <a:buNone/>
            </a:pPr>
            <a:r>
              <a:rPr lang="en-US" sz="2400" b="1" dirty="0">
                <a:solidFill>
                  <a:srgbClr val="24352E"/>
                </a:solidFill>
                <a:latin typeface="Microsoft YaHei" pitchFamily="34" charset="0"/>
                <a:ea typeface="Microsoft YaHei" pitchFamily="34" charset="-122"/>
                <a:cs typeface="Microsoft YaHei" pitchFamily="34" charset="-120"/>
              </a:rPr>
              <a:t>商务说明与联系方式</a:t>
            </a:r>
            <a:endParaRPr lang="en-US" sz="2400" dirty="0"/>
          </a:p>
        </p:txBody>
      </p:sp>
      <p:sp>
        <p:nvSpPr>
          <p:cNvPr id="4" name="Text 2"/>
          <p:cNvSpPr txBox="1"/>
          <p:nvPr/>
        </p:nvSpPr>
        <p:spPr>
          <a:xfrm>
            <a:off x="621792" y="914400"/>
            <a:ext cx="10881360" cy="384048"/>
          </a:xfrm>
          <a:prstGeom prst="rect">
            <a:avLst/>
          </a:prstGeom>
          <a:noFill/>
          <a:ln/>
        </p:spPr>
        <p:txBody>
          <a:bodyPr wrap="square" lIns="0" tIns="0" rIns="0" bIns="0" rtlCol="0" anchor="t"/>
          <a:lstStyle/>
          <a:p>
            <a:pPr algn="l" indent="0" marL="0">
              <a:lnSpc>
                <a:spcPct val="130000"/>
              </a:lnSpc>
              <a:buNone/>
            </a:pPr>
            <a:r>
              <a:rPr lang="en-US" sz="1050" dirty="0">
                <a:solidFill>
                  <a:srgbClr val="5D6E63"/>
                </a:solidFill>
                <a:latin typeface="Microsoft YaHei" pitchFamily="34" charset="0"/>
                <a:ea typeface="Microsoft YaHei" pitchFamily="34" charset="-122"/>
                <a:cs typeface="Microsoft YaHei" pitchFamily="34" charset="-120"/>
              </a:rPr>
              <a:t>报价有效期与库存核对时间分别记录</a:t>
            </a:r>
            <a:endParaRPr lang="en-US" sz="1050" dirty="0"/>
          </a:p>
        </p:txBody>
      </p:sp>
      <p:sp>
        <p:nvSpPr>
          <p:cNvPr id="5" name="Shape 3"/>
          <p:cNvSpPr/>
          <p:nvPr/>
        </p:nvSpPr>
        <p:spPr>
          <a:xfrm>
            <a:off x="594360" y="6382512"/>
            <a:ext cx="11000232" cy="13716"/>
          </a:xfrm>
          <a:prstGeom prst="rect">
            <a:avLst/>
          </a:prstGeom>
          <a:solidFill>
            <a:srgbClr val="DCE2D9"/>
          </a:solidFill>
          <a:ln w="12700">
            <a:solidFill>
              <a:srgbClr val="DCE2D9">
                <a:alpha val="0"/>
              </a:srgbClr>
            </a:solidFill>
            <a:prstDash val="solid"/>
          </a:ln>
        </p:spPr>
      </p:sp>
      <p:sp>
        <p:nvSpPr>
          <p:cNvPr id="6" name="Text 4"/>
          <p:cNvSpPr txBox="1"/>
          <p:nvPr/>
        </p:nvSpPr>
        <p:spPr>
          <a:xfrm>
            <a:off x="621792" y="6492240"/>
            <a:ext cx="7680960" cy="164592"/>
          </a:xfrm>
          <a:prstGeom prst="rect">
            <a:avLst/>
          </a:prstGeom>
          <a:noFill/>
          <a:ln/>
        </p:spPr>
        <p:txBody>
          <a:bodyPr wrap="square" lIns="0" tIns="0" rIns="0" bIns="0" rtlCol="0" anchor="t"/>
          <a:lstStyle/>
          <a:p>
            <a:pPr algn="l"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织选  /  QUOTE-STRUCTURE-TEST · V2</a:t>
            </a:r>
            <a:endParaRPr lang="en-US" sz="850" dirty="0"/>
          </a:p>
        </p:txBody>
      </p:sp>
      <p:sp>
        <p:nvSpPr>
          <p:cNvPr id="7" name="Text 5"/>
          <p:cNvSpPr txBox="1"/>
          <p:nvPr/>
        </p:nvSpPr>
        <p:spPr>
          <a:xfrm>
            <a:off x="9418320" y="6492240"/>
            <a:ext cx="210312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演示数据 · 供原型评审</a:t>
            </a:r>
            <a:endParaRPr lang="en-US" sz="850" dirty="0"/>
          </a:p>
        </p:txBody>
      </p:sp>
      <p:sp>
        <p:nvSpPr>
          <p:cNvPr id="8" name="Text 6"/>
          <p:cNvSpPr txBox="1"/>
          <p:nvPr/>
        </p:nvSpPr>
        <p:spPr>
          <a:xfrm>
            <a:off x="777240" y="1536192"/>
            <a:ext cx="10652760" cy="4480560"/>
          </a:xfrm>
          <a:prstGeom prst="rect">
            <a:avLst/>
          </a:prstGeom>
          <a:noFill/>
          <a:ln/>
        </p:spPr>
        <p:txBody>
          <a:bodyPr wrap="square" lIns="0" tIns="0" rIns="0" bIns="0" rtlCol="0" anchor="t"/>
          <a:lstStyle/>
          <a:p>
            <a:pPr algn="l" indent="0" marL="0">
              <a:lnSpc>
                <a:spcPct val="145000"/>
              </a:lnSpc>
              <a:buNone/>
            </a:pPr>
            <a:r>
              <a:rPr lang="en-US" sz="1500" dirty="0">
                <a:solidFill>
                  <a:srgbClr val="24352E"/>
                </a:solidFill>
                <a:latin typeface="Microsoft YaHei" pitchFamily="34" charset="0"/>
                <a:ea typeface="Microsoft YaHei" pitchFamily="34" charset="-122"/>
                <a:cs typeface="Microsoft YaHei" pitchFamily="34" charset="-120"/>
              </a:rPr>
              <a:t>报价日期：2026/9/11 16:00:00；有效至：2026/9/18 16:00:00。
库存核对时间：2026/9/11 15:45:00；价格版本 P2，库存版本 S3。报价不预占库存，正式订货时须再次确认可售
数量与交期。
图片说明：采用的模特或搭配图为 AI 搭配效果示意，非实拍；未列入 SKU 清单的陪衬服饰不包含在报价中。 实
际商品以原图、SKU、颜色和尺码规格为准。
对客备注：现货以确认时库存为准
联系：演示顾问 / 400-000-0000。
原型评审说明：本文件使用演示商品数据与示意素材，不构成真实供货承诺。
企业模板：V2。本次文件对应固定报价快照，外部编辑不会自动回写系统。
</a:t>
            </a:r>
            <a:endParaRPr lang="en-US" sz="1500" dirty="0"/>
          </a:p>
        </p:txBody>
      </p:sp>
      <p:sp>
        <p:nvSpPr>
          <p:cNvPr id="9" name="Text 7"/>
          <p:cNvSpPr txBox="1"/>
          <p:nvPr/>
        </p:nvSpPr>
        <p:spPr>
          <a:xfrm>
            <a:off x="8247888" y="6492240"/>
            <a:ext cx="1005840" cy="164592"/>
          </a:xfrm>
          <a:prstGeom prst="rect">
            <a:avLst/>
          </a:prstGeom>
          <a:noFill/>
          <a:ln/>
        </p:spPr>
        <p:txBody>
          <a:bodyPr wrap="square" lIns="0" tIns="0" rIns="0" bIns="0" rtlCol="0" anchor="t"/>
          <a:lstStyle/>
          <a:p>
            <a:pPr algn="r" indent="0" marL="0">
              <a:lnSpc>
                <a:spcPct val="130000"/>
              </a:lnSpc>
              <a:buNone/>
            </a:pPr>
            <a:r>
              <a:rPr lang="en-US" sz="850" dirty="0">
                <a:solidFill>
                  <a:srgbClr val="5D6E63"/>
                </a:solidFill>
                <a:latin typeface="Microsoft YaHei" pitchFamily="34" charset="0"/>
                <a:ea typeface="Microsoft YaHei" pitchFamily="34" charset="-122"/>
                <a:cs typeface="Microsoft YaHei" pitchFamily="34" charset="-120"/>
              </a:rPr>
              <a:t>36 / 36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织选</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四档服饰搭配与多尺码报价验证</dc:title>
  <dc:subject>演示商品报价 · 固定报价版本</dc:subject>
  <dc:creator>织选</dc:creator>
  <cp:lastModifiedBy>织选</cp:lastModifiedBy>
  <cp:revision>1</cp:revision>
  <dcterms:created xsi:type="dcterms:W3CDTF">2026-09-11T03:05:06Z</dcterms:created>
  <dcterms:modified xsi:type="dcterms:W3CDTF">2026-09-11T03:05:06Z</dcterms:modified>
</cp:coreProperties>
</file>