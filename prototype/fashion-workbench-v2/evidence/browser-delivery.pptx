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" y="384048"/>
            <a:ext cx="50292" cy="475488"/>
          </a:xfrm>
          <a:prstGeom prst="rect">
            <a:avLst/>
          </a:prstGeom>
          <a:solidFill>
            <a:srgbClr val="294839"/>
          </a:solidFill>
          <a:ln w="12700">
            <a:solidFill>
              <a:srgbClr val="294839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21792" y="356616"/>
            <a:ext cx="10241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2435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织选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91440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FASHION SELECTION &amp; QUOTATION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6382512"/>
            <a:ext cx="11000232" cy="13716"/>
          </a:xfrm>
          <a:prstGeom prst="rect">
            <a:avLst/>
          </a:prstGeom>
          <a:solidFill>
            <a:srgbClr val="DCE2D9"/>
          </a:solidFill>
          <a:ln w="12700">
            <a:solidFill>
              <a:srgbClr val="DCE2D9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6492240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织选  /  quote-mtwdign1-xblxo · V4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9418320" y="649224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演示数据 · 供原型评审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621792" y="1508760"/>
            <a:ext cx="6720840" cy="4434840"/>
          </a:xfrm>
          <a:prstGeom prst="rect">
            <a:avLst/>
          </a:prstGeom>
          <a:solidFill>
            <a:srgbClr val="294839"/>
          </a:solidFill>
          <a:ln w="12700">
            <a:solidFill>
              <a:srgbClr val="294839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50976" y="1883664"/>
            <a:ext cx="6035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为每一次采购，</a:t>
            </a:r>
            <a:endParaRPr lang="en-US" sz="3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搭配合适的选择。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950976" y="3319272"/>
            <a:ext cx="5897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森禾 · 秋季团建服装方案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950976" y="4590288"/>
            <a:ext cx="5852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森禾企业服务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备选报价 · 客户任选，各方案独立核算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生成日期 2026/9/11 11:05:11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571232" y="1508760"/>
            <a:ext cx="3977640" cy="4434840"/>
          </a:xfrm>
          <a:prstGeom prst="rect">
            <a:avLst/>
          </a:prstGeom>
          <a:solidFill>
            <a:srgbClr val="EAF0E7"/>
          </a:solidFill>
          <a:ln w="12700">
            <a:solidFill>
              <a:srgbClr val="EAF0E7">
                <a:alpha val="0"/>
              </a:srgbClr>
            </a:solidFill>
            <a:prstDash val="solid"/>
          </a:ln>
        </p:spPr>
      </p:sp>
      <p:pic>
        <p:nvPicPr>
          <p:cNvPr id="13" name="Image 0" descr="报价商品示意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796796"/>
            <a:ext cx="3493008" cy="3493008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7790688" y="5532120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商品与图片均为原型演示素材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8247888" y="649224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/ 21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" y="384048"/>
            <a:ext cx="50292" cy="475488"/>
          </a:xfrm>
          <a:prstGeom prst="rect">
            <a:avLst/>
          </a:prstGeom>
          <a:solidFill>
            <a:srgbClr val="294839"/>
          </a:solidFill>
          <a:ln w="12700">
            <a:solidFill>
              <a:srgbClr val="294839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21792" y="356616"/>
            <a:ext cx="10241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2435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需求与报价口径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91440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森禾企业服务 · 报价版本 V4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6382512"/>
            <a:ext cx="11000232" cy="13716"/>
          </a:xfrm>
          <a:prstGeom prst="rect">
            <a:avLst/>
          </a:prstGeom>
          <a:solidFill>
            <a:srgbClr val="DCE2D9"/>
          </a:solidFill>
          <a:ln w="12700">
            <a:solidFill>
              <a:srgbClr val="DCE2D9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6492240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织选  /  quote-mtwdign1-xblxo · V4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9418320" y="649224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演示数据 · 供原型评审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1536192"/>
            <a:ext cx="106527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2435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方案主题：森禾 · 秋季团建服装方案
采购场景：企业团建；风格：休闲；季节：四季
品类档位：1 / 2 / 3 / 4 品类；本次 4 个候选。各组合采购量见比较页。
采购总预算：¥30,000.00（含附加费用及适用税额，最终按对应报价模式判断）。
报价模式：备选报价 · 客户任选，各方案独立核算。所有候选是不同选择，各候选金额与库存分别核算，不累计
成客户应付金额。
币种：人民币 CNY。税费口径：含税销售价，不重复加税。
需求补充：给森禾准备100套秋季团建服装，预算每套300元。上衣、裤子、帽子和鞋，提供一到四品类的递进比较
。
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47888" y="649224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21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" y="384048"/>
            <a:ext cx="50292" cy="475488"/>
          </a:xfrm>
          <a:prstGeom prst="rect">
            <a:avLst/>
          </a:prstGeom>
          <a:solidFill>
            <a:srgbClr val="294839"/>
          </a:solidFill>
          <a:ln w="12700">
            <a:solidFill>
              <a:srgbClr val="294839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21792" y="356616"/>
            <a:ext cx="10241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2435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方案比较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91440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备选报价 · 客户任选，各方案独立核算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6382512"/>
            <a:ext cx="11000232" cy="13716"/>
          </a:xfrm>
          <a:prstGeom prst="rect">
            <a:avLst/>
          </a:prstGeom>
          <a:solidFill>
            <a:srgbClr val="DCE2D9"/>
          </a:solidFill>
          <a:ln w="12700">
            <a:solidFill>
              <a:srgbClr val="DCE2D9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6492240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织选  /  quote-mtwdign1-xblxo · V4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9418320" y="649224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演示数据 · 供原型评审</a:t>
            </a:r>
            <a:endParaRPr lang="en-US" sz="8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1527048"/>
          <a:ext cx="10972800" cy="411480"/>
        </p:xfrm>
        <a:graphic>
          <a:graphicData uri="http://schemas.openxmlformats.org/drawingml/2006/table">
            <a:tbl>
              <a:tblPr/>
              <a:tblGrid>
                <a:gridCol w="2468880"/>
                <a:gridCol w="960120"/>
                <a:gridCol w="2880360"/>
                <a:gridCol w="1097280"/>
                <a:gridCol w="1783080"/>
                <a:gridCol w="17830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候选方案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48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档位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48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组成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48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采购量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48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平均每套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48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对应应付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483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1938528"/>
          <a:ext cx="10972800" cy="393192"/>
        </p:xfrm>
        <a:graphic>
          <a:graphicData uri="http://schemas.openxmlformats.org/drawingml/2006/table">
            <a:tbl>
              <a:tblPr/>
              <a:tblGrid>
                <a:gridCol w="2468880"/>
                <a:gridCol w="960120"/>
                <a:gridCol w="2880360"/>
                <a:gridCol w="1097280"/>
                <a:gridCol w="1783080"/>
                <a:gridCol w="178308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 品类 · 舒适优选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 品类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上衣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 套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¥79.00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¥7,900.00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2331720"/>
          <a:ext cx="10972800" cy="393192"/>
        </p:xfrm>
        <a:graphic>
          <a:graphicData uri="http://schemas.openxmlformats.org/drawingml/2006/table">
            <a:tbl>
              <a:tblPr/>
              <a:tblGrid>
                <a:gridCol w="2468880"/>
                <a:gridCol w="960120"/>
                <a:gridCol w="2880360"/>
                <a:gridCol w="1097280"/>
                <a:gridCol w="1783080"/>
                <a:gridCol w="178308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 品类 · 舒适优选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 品类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上衣 + 裤子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 套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¥136.00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¥13,600.00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2724912"/>
          <a:ext cx="10972800" cy="393192"/>
        </p:xfrm>
        <a:graphic>
          <a:graphicData uri="http://schemas.openxmlformats.org/drawingml/2006/table">
            <a:tbl>
              <a:tblPr/>
              <a:tblGrid>
                <a:gridCol w="2468880"/>
                <a:gridCol w="960120"/>
                <a:gridCol w="2880360"/>
                <a:gridCol w="1097280"/>
                <a:gridCol w="1783080"/>
                <a:gridCol w="178308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 品类 · 舒适优选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 品类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上衣 + 裤子 + 帽子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 套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¥155.00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¥15,500.00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3118104"/>
          <a:ext cx="10972800" cy="393192"/>
        </p:xfrm>
        <a:graphic>
          <a:graphicData uri="http://schemas.openxmlformats.org/drawingml/2006/table">
            <a:tbl>
              <a:tblPr/>
              <a:tblGrid>
                <a:gridCol w="2468880"/>
                <a:gridCol w="960120"/>
                <a:gridCol w="2880360"/>
                <a:gridCol w="1097280"/>
                <a:gridCol w="1783080"/>
                <a:gridCol w="178308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 品类 · 舒适优选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 品类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上衣 + 裤子 + 帽子 + 鞋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 套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¥240.50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¥24,050.00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</a:tr>
            </a:tbl>
          </a:graphicData>
        </a:graphic>
      </p:graphicFrame>
      <p:sp>
        <p:nvSpPr>
          <p:cNvPr id="13" name="Text 6"/>
          <p:cNvSpPr txBox="1"/>
          <p:nvPr/>
        </p:nvSpPr>
        <p:spPr>
          <a:xfrm>
            <a:off x="8247888" y="649224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21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" y="384048"/>
            <a:ext cx="50292" cy="475488"/>
          </a:xfrm>
          <a:prstGeom prst="rect">
            <a:avLst/>
          </a:prstGeom>
          <a:solidFill>
            <a:srgbClr val="294839"/>
          </a:solidFill>
          <a:ln w="12700">
            <a:solidFill>
              <a:srgbClr val="294839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21792" y="356616"/>
            <a:ext cx="10241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2435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品类 · 舒适优选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91440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品类 · 100 套 · 备选报价 · 客户任选，各方案独立核算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6382512"/>
            <a:ext cx="11000232" cy="13716"/>
          </a:xfrm>
          <a:prstGeom prst="rect">
            <a:avLst/>
          </a:prstGeom>
          <a:solidFill>
            <a:srgbClr val="DCE2D9"/>
          </a:solidFill>
          <a:ln w="12700">
            <a:solidFill>
              <a:srgbClr val="DCE2D9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6492240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织选  /  quote-mtwdign1-xblxo · V4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9418320" y="649224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演示数据 · 供原型评审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86384" y="1554480"/>
            <a:ext cx="516636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0" descr="上衣 米杏珠地短袖 Pol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9344" y="1664208"/>
            <a:ext cx="3520440" cy="352044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932688" y="5285232"/>
            <a:ext cx="4873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435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上衣 · 米杏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932688" y="5495544"/>
            <a:ext cx="48737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SKU / 尺码与金额见明细页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6291072" y="1792224"/>
            <a:ext cx="5166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500" b="1" dirty="0">
                <a:solidFill>
                  <a:srgbClr val="2948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好搭配，</a:t>
            </a:r>
            <a:endParaRPr lang="en-US" sz="2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500" b="1" dirty="0">
                <a:solidFill>
                  <a:srgbClr val="2948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从真实商品开始。</a:t>
            </a:r>
            <a:endParaRPr lang="en-US" sz="2500" dirty="0"/>
          </a:p>
        </p:txBody>
      </p:sp>
      <p:sp>
        <p:nvSpPr>
          <p:cNvPr id="13" name="Text 10"/>
          <p:cNvSpPr txBox="1"/>
          <p:nvPr/>
        </p:nvSpPr>
        <p:spPr>
          <a:xfrm>
            <a:off x="6309360" y="3108960"/>
            <a:ext cx="51114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本方案采用商品原图拼版。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实际商品以 SKU 与规格明细为准。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309360" y="4773168"/>
            <a:ext cx="5111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700" b="1" dirty="0">
                <a:solidFill>
                  <a:srgbClr val="2948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¥79.00</a:t>
            </a:r>
            <a:endParaRPr lang="en-US" sz="2700" dirty="0"/>
          </a:p>
        </p:txBody>
      </p:sp>
      <p:sp>
        <p:nvSpPr>
          <p:cNvPr id="15" name="Text 12"/>
          <p:cNvSpPr txBox="1"/>
          <p:nvPr/>
        </p:nvSpPr>
        <p:spPr>
          <a:xfrm>
            <a:off x="6309360" y="5358384"/>
            <a:ext cx="511149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平均每套 / 含费用   ·   应付 ¥7,900.00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8247888" y="649224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21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" y="384048"/>
            <a:ext cx="50292" cy="475488"/>
          </a:xfrm>
          <a:prstGeom prst="rect">
            <a:avLst/>
          </a:prstGeom>
          <a:solidFill>
            <a:srgbClr val="294839"/>
          </a:solidFill>
          <a:ln w="12700">
            <a:solidFill>
              <a:srgbClr val="294839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21792" y="356616"/>
            <a:ext cx="10241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2435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品类 · 舒适优选 · 搭配说明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91440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品类 · 方案 1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6382512"/>
            <a:ext cx="11000232" cy="13716"/>
          </a:xfrm>
          <a:prstGeom prst="rect">
            <a:avLst/>
          </a:prstGeom>
          <a:solidFill>
            <a:srgbClr val="DCE2D9"/>
          </a:solidFill>
          <a:ln w="12700">
            <a:solidFill>
              <a:srgbClr val="DCE2D9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6492240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织选  /  quote-mtwdign1-xblxo · V4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9418320" y="649224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演示数据 · 供原型评审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1536192"/>
            <a:ext cx="106527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2435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符合企业团建 / 休闲，优先保留基础款递进；锁定项可手动解锁调整。
商品：米杏珠地短袖 Polo（米杏）
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47888" y="649224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/ 21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" y="384048"/>
            <a:ext cx="50292" cy="475488"/>
          </a:xfrm>
          <a:prstGeom prst="rect">
            <a:avLst/>
          </a:prstGeom>
          <a:solidFill>
            <a:srgbClr val="294839"/>
          </a:solidFill>
          <a:ln w="12700">
            <a:solidFill>
              <a:srgbClr val="294839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21792" y="356616"/>
            <a:ext cx="10241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2435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品类 · 舒适优选 · SKU 报价明细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91440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人民币 · 含税销售价，不重复加税 · 数量为具体尺码采购量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6382512"/>
            <a:ext cx="11000232" cy="13716"/>
          </a:xfrm>
          <a:prstGeom prst="rect">
            <a:avLst/>
          </a:prstGeom>
          <a:solidFill>
            <a:srgbClr val="DCE2D9"/>
          </a:solidFill>
          <a:ln w="12700">
            <a:solidFill>
              <a:srgbClr val="DCE2D9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6492240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织选  /  quote-mtwdign1-xblxo · V4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9418320" y="649224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演示数据 · 供原型评审</a:t>
            </a:r>
            <a:endParaRPr lang="en-US" sz="8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1527048"/>
          <a:ext cx="10972800" cy="411480"/>
        </p:xfrm>
        <a:graphic>
          <a:graphicData uri="http://schemas.openxmlformats.org/drawingml/2006/table">
            <a:tbl>
              <a:tblPr/>
              <a:tblGrid>
                <a:gridCol w="2011680"/>
                <a:gridCol w="2788920"/>
                <a:gridCol w="1600200"/>
                <a:gridCol w="1188720"/>
                <a:gridCol w="1645920"/>
                <a:gridCol w="17373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SKU / 款号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48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商品名称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48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颜色 / 尺码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48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数量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48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销售单价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48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行金额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483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1938528"/>
          <a:ext cx="10972800" cy="393192"/>
        </p:xfrm>
        <a:graphic>
          <a:graphicData uri="http://schemas.openxmlformats.org/drawingml/2006/table">
            <a:tbl>
              <a:tblPr/>
              <a:tblGrid>
                <a:gridCol w="2011680"/>
                <a:gridCol w="2788920"/>
                <a:gridCol w="1600200"/>
                <a:gridCol w="1188720"/>
                <a:gridCol w="1645920"/>
                <a:gridCol w="173736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ZX-11-M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米杏珠地短袖 Polo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米杏 / M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34 件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¥80.00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¥2,720.00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2331720"/>
          <a:ext cx="10972800" cy="393192"/>
        </p:xfrm>
        <a:graphic>
          <a:graphicData uri="http://schemas.openxmlformats.org/drawingml/2006/table">
            <a:tbl>
              <a:tblPr/>
              <a:tblGrid>
                <a:gridCol w="2011680"/>
                <a:gridCol w="2788920"/>
                <a:gridCol w="1600200"/>
                <a:gridCol w="1188720"/>
                <a:gridCol w="1645920"/>
                <a:gridCol w="173736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ZX-11-L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米杏珠地短袖 Polo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米杏 / L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33 件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¥80.00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¥2,640.00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2724912"/>
          <a:ext cx="10972800" cy="393192"/>
        </p:xfrm>
        <a:graphic>
          <a:graphicData uri="http://schemas.openxmlformats.org/drawingml/2006/table">
            <a:tbl>
              <a:tblPr/>
              <a:tblGrid>
                <a:gridCol w="2011680"/>
                <a:gridCol w="2788920"/>
                <a:gridCol w="1600200"/>
                <a:gridCol w="1188720"/>
                <a:gridCol w="1645920"/>
                <a:gridCol w="173736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ZX-11-XL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米杏珠地短袖 Polo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米杏 / XL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33 件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¥80.00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¥2,640.00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6"/>
          <p:cNvSpPr txBox="1"/>
          <p:nvPr/>
        </p:nvSpPr>
        <p:spPr>
          <a:xfrm>
            <a:off x="8247888" y="649224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/ 21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" y="384048"/>
            <a:ext cx="50292" cy="475488"/>
          </a:xfrm>
          <a:prstGeom prst="rect">
            <a:avLst/>
          </a:prstGeom>
          <a:solidFill>
            <a:srgbClr val="294839"/>
          </a:solidFill>
          <a:ln w="12700">
            <a:solidFill>
              <a:srgbClr val="294839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21792" y="356616"/>
            <a:ext cx="10241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2435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品类 · 舒适优选 · 金额确认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91440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 套 · 平均每套 ¥79.00，平均值仅作展示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6382512"/>
            <a:ext cx="11000232" cy="13716"/>
          </a:xfrm>
          <a:prstGeom prst="rect">
            <a:avLst/>
          </a:prstGeom>
          <a:solidFill>
            <a:srgbClr val="DCE2D9"/>
          </a:solidFill>
          <a:ln w="12700">
            <a:solidFill>
              <a:srgbClr val="DCE2D9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6492240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织选  /  quote-mtwdign1-xblxo · V4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9418320" y="649224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演示数据 · 供原型评审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1527048"/>
          <a:ext cx="10972800" cy="411480"/>
        </p:xfrm>
        <a:graphic>
          <a:graphicData uri="http://schemas.openxmlformats.org/drawingml/2006/table">
            <a:tbl>
              <a:tblPr/>
              <a:tblGrid>
                <a:gridCol w="7589520"/>
                <a:gridCol w="33832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金额项目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48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人民币金额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483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1938528"/>
          <a:ext cx="10972800" cy="393192"/>
        </p:xfrm>
        <a:graphic>
          <a:graphicData uri="http://schemas.openxmlformats.org/drawingml/2006/table">
            <a:tbl>
              <a:tblPr/>
              <a:tblGrid>
                <a:gridCol w="7589520"/>
                <a:gridCol w="338328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商品合计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¥8,000.00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2331720"/>
          <a:ext cx="10972800" cy="393192"/>
        </p:xfrm>
        <a:graphic>
          <a:graphicData uri="http://schemas.openxmlformats.org/drawingml/2006/table">
            <a:tbl>
              <a:tblPr/>
              <a:tblGrid>
                <a:gridCol w="7589520"/>
                <a:gridCol w="338328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整单优惠（仅作用于商品合计）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 ¥400.00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2724912"/>
          <a:ext cx="10972800" cy="393192"/>
        </p:xfrm>
        <a:graphic>
          <a:graphicData uri="http://schemas.openxmlformats.org/drawingml/2006/table">
            <a:tbl>
              <a:tblPr/>
              <a:tblGrid>
                <a:gridCol w="7589520"/>
                <a:gridCol w="338328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附加费用 / 运费（已含税 / 不再加税）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¥300.00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3118104"/>
          <a:ext cx="10972800" cy="393192"/>
        </p:xfrm>
        <a:graphic>
          <a:graphicData uri="http://schemas.openxmlformats.org/drawingml/2006/table">
            <a:tbl>
              <a:tblPr/>
              <a:tblGrid>
                <a:gridCol w="7589520"/>
                <a:gridCol w="338328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本备选方案应付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¥7,900.00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</a:tr>
            </a:tbl>
          </a:graphicData>
        </a:graphic>
      </p:graphicFrame>
      <p:sp>
        <p:nvSpPr>
          <p:cNvPr id="13" name="Text 6"/>
          <p:cNvSpPr txBox="1"/>
          <p:nvPr/>
        </p:nvSpPr>
        <p:spPr>
          <a:xfrm>
            <a:off x="8247888" y="649224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/ 21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" y="384048"/>
            <a:ext cx="50292" cy="475488"/>
          </a:xfrm>
          <a:prstGeom prst="rect">
            <a:avLst/>
          </a:prstGeom>
          <a:solidFill>
            <a:srgbClr val="294839"/>
          </a:solidFill>
          <a:ln w="12700">
            <a:solidFill>
              <a:srgbClr val="294839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21792" y="356616"/>
            <a:ext cx="10241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2435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品类 · 舒适优选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91440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品类 · 100 套 · 备选报价 · 客户任选，各方案独立核算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6382512"/>
            <a:ext cx="11000232" cy="13716"/>
          </a:xfrm>
          <a:prstGeom prst="rect">
            <a:avLst/>
          </a:prstGeom>
          <a:solidFill>
            <a:srgbClr val="DCE2D9"/>
          </a:solidFill>
          <a:ln w="12700">
            <a:solidFill>
              <a:srgbClr val="DCE2D9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6492240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织选  /  quote-mtwdign1-xblxo · V4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9418320" y="649224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演示数据 · 供原型评审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86384" y="1554480"/>
            <a:ext cx="3127248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0" descr="上衣 米杏珠地短袖 Pol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970532"/>
            <a:ext cx="2907792" cy="290779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932688" y="528523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435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上衣 · 米杏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932688" y="5495544"/>
            <a:ext cx="2834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SKU / 尺码与金额见明细页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133088" y="1554480"/>
            <a:ext cx="3127248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3" name="Image 1" descr="裤子 苔绿直筒休闲裤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1970532"/>
            <a:ext cx="2907792" cy="290779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279392" y="528523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435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裤子 · 苔绿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4279392" y="5495544"/>
            <a:ext cx="2834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SKU / 尺码与金额见明细页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7461504" y="1792224"/>
            <a:ext cx="3977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500" b="1" dirty="0">
                <a:solidFill>
                  <a:srgbClr val="2948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好搭配，</a:t>
            </a:r>
            <a:endParaRPr lang="en-US" sz="2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500" b="1" dirty="0">
                <a:solidFill>
                  <a:srgbClr val="2948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从真实商品开始。</a:t>
            </a:r>
            <a:endParaRPr lang="en-US" sz="2500" dirty="0"/>
          </a:p>
        </p:txBody>
      </p:sp>
      <p:sp>
        <p:nvSpPr>
          <p:cNvPr id="17" name="Text 13"/>
          <p:cNvSpPr txBox="1"/>
          <p:nvPr/>
        </p:nvSpPr>
        <p:spPr>
          <a:xfrm>
            <a:off x="7479792" y="3108960"/>
            <a:ext cx="39227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本方案采用商品原图拼版。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实际商品以 SKU 与规格明细为准。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7479792" y="4773168"/>
            <a:ext cx="3922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700" b="1" dirty="0">
                <a:solidFill>
                  <a:srgbClr val="2948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¥136.00</a:t>
            </a:r>
            <a:endParaRPr lang="en-US" sz="2700" dirty="0"/>
          </a:p>
        </p:txBody>
      </p:sp>
      <p:sp>
        <p:nvSpPr>
          <p:cNvPr id="19" name="Text 15"/>
          <p:cNvSpPr txBox="1"/>
          <p:nvPr/>
        </p:nvSpPr>
        <p:spPr>
          <a:xfrm>
            <a:off x="7479792" y="5358384"/>
            <a:ext cx="392277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平均每套 / 含费用   ·   应付 ¥13,600.00</a:t>
            </a:r>
            <a:endParaRPr lang="en-US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8247888" y="649224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/ 21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" y="384048"/>
            <a:ext cx="50292" cy="475488"/>
          </a:xfrm>
          <a:prstGeom prst="rect">
            <a:avLst/>
          </a:prstGeom>
          <a:solidFill>
            <a:srgbClr val="294839"/>
          </a:solidFill>
          <a:ln w="12700">
            <a:solidFill>
              <a:srgbClr val="294839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21792" y="356616"/>
            <a:ext cx="10241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2435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品类 · 舒适优选 · 搭配说明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91440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品类 · 方案 2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6382512"/>
            <a:ext cx="11000232" cy="13716"/>
          </a:xfrm>
          <a:prstGeom prst="rect">
            <a:avLst/>
          </a:prstGeom>
          <a:solidFill>
            <a:srgbClr val="DCE2D9"/>
          </a:solidFill>
          <a:ln w="12700">
            <a:solidFill>
              <a:srgbClr val="DCE2D9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6492240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织选  /  quote-mtwdign1-xblxo · V4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9418320" y="649224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演示数据 · 供原型评审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1536192"/>
            <a:ext cx="106527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2435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符合企业团建 / 休闲，优先保留基础款递进；锁定项可手动解锁调整。
商品：米杏珠地短袖 Polo（米杏）；苔绿直筒休闲裤（苔绿）
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47888" y="649224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/ 21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" y="384048"/>
            <a:ext cx="50292" cy="475488"/>
          </a:xfrm>
          <a:prstGeom prst="rect">
            <a:avLst/>
          </a:prstGeom>
          <a:solidFill>
            <a:srgbClr val="294839"/>
          </a:solidFill>
          <a:ln w="12700">
            <a:solidFill>
              <a:srgbClr val="294839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21792" y="356616"/>
            <a:ext cx="10241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2435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品类 · 舒适优选 · SKU 报价明细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91440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人民币 · 含税销售价，不重复加税 · 数量为具体尺码采购量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6382512"/>
            <a:ext cx="11000232" cy="13716"/>
          </a:xfrm>
          <a:prstGeom prst="rect">
            <a:avLst/>
          </a:prstGeom>
          <a:solidFill>
            <a:srgbClr val="DCE2D9"/>
          </a:solidFill>
          <a:ln w="12700">
            <a:solidFill>
              <a:srgbClr val="DCE2D9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6492240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织选  /  quote-mtwdign1-xblxo · V4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9418320" y="649224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演示数据 · 供原型评审</a:t>
            </a:r>
            <a:endParaRPr lang="en-US" sz="8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1527048"/>
          <a:ext cx="10972800" cy="411480"/>
        </p:xfrm>
        <a:graphic>
          <a:graphicData uri="http://schemas.openxmlformats.org/drawingml/2006/table">
            <a:tbl>
              <a:tblPr/>
              <a:tblGrid>
                <a:gridCol w="2011680"/>
                <a:gridCol w="2788920"/>
                <a:gridCol w="1600200"/>
                <a:gridCol w="1188720"/>
                <a:gridCol w="1645920"/>
                <a:gridCol w="17373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SKU / 款号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48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商品名称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48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颜色 / 尺码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48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数量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48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销售单价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48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行金额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483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1938528"/>
          <a:ext cx="10972800" cy="393192"/>
        </p:xfrm>
        <a:graphic>
          <a:graphicData uri="http://schemas.openxmlformats.org/drawingml/2006/table">
            <a:tbl>
              <a:tblPr/>
              <a:tblGrid>
                <a:gridCol w="2011680"/>
                <a:gridCol w="2788920"/>
                <a:gridCol w="1600200"/>
                <a:gridCol w="1188720"/>
                <a:gridCol w="1645920"/>
                <a:gridCol w="173736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ZX-11-M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米杏珠地短袖 Polo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米杏 / M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34 件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¥80.00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¥2,720.00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2331720"/>
          <a:ext cx="10972800" cy="393192"/>
        </p:xfrm>
        <a:graphic>
          <a:graphicData uri="http://schemas.openxmlformats.org/drawingml/2006/table">
            <a:tbl>
              <a:tblPr/>
              <a:tblGrid>
                <a:gridCol w="2011680"/>
                <a:gridCol w="2788920"/>
                <a:gridCol w="1600200"/>
                <a:gridCol w="1188720"/>
                <a:gridCol w="1645920"/>
                <a:gridCol w="173736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ZX-11-L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米杏珠地短袖 Polo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米杏 / L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33 件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¥80.00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¥2,640.00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2724912"/>
          <a:ext cx="10972800" cy="393192"/>
        </p:xfrm>
        <a:graphic>
          <a:graphicData uri="http://schemas.openxmlformats.org/drawingml/2006/table">
            <a:tbl>
              <a:tblPr/>
              <a:tblGrid>
                <a:gridCol w="2011680"/>
                <a:gridCol w="2788920"/>
                <a:gridCol w="1600200"/>
                <a:gridCol w="1188720"/>
                <a:gridCol w="1645920"/>
                <a:gridCol w="173736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ZX-11-XL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米杏珠地短袖 Polo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米杏 / XL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33 件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¥80.00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¥2,640.00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3118104"/>
          <a:ext cx="10972800" cy="393192"/>
        </p:xfrm>
        <a:graphic>
          <a:graphicData uri="http://schemas.openxmlformats.org/drawingml/2006/table">
            <a:tbl>
              <a:tblPr/>
              <a:tblGrid>
                <a:gridCol w="2011680"/>
                <a:gridCol w="2788920"/>
                <a:gridCol w="1600200"/>
                <a:gridCol w="1188720"/>
                <a:gridCol w="1645920"/>
                <a:gridCol w="173736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ZX-12-M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苔绿直筒休闲裤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苔绿 / M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34 件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¥60.00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¥2,040.00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1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3511296"/>
          <a:ext cx="10972800" cy="393192"/>
        </p:xfrm>
        <a:graphic>
          <a:graphicData uri="http://schemas.openxmlformats.org/drawingml/2006/table">
            <a:tbl>
              <a:tblPr/>
              <a:tblGrid>
                <a:gridCol w="2011680"/>
                <a:gridCol w="2788920"/>
                <a:gridCol w="1600200"/>
                <a:gridCol w="1188720"/>
                <a:gridCol w="1645920"/>
                <a:gridCol w="173736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ZX-12-L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苔绿直筒休闲裤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苔绿 / L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33 件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¥60.00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¥1,980.00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1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3904488"/>
          <a:ext cx="10972800" cy="393192"/>
        </p:xfrm>
        <a:graphic>
          <a:graphicData uri="http://schemas.openxmlformats.org/drawingml/2006/table">
            <a:tbl>
              <a:tblPr/>
              <a:tblGrid>
                <a:gridCol w="2011680"/>
                <a:gridCol w="2788920"/>
                <a:gridCol w="1600200"/>
                <a:gridCol w="1188720"/>
                <a:gridCol w="1645920"/>
                <a:gridCol w="173736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ZX-12-XL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苔绿直筒休闲裤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苔绿 / XL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33 件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¥60.00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¥1,980.00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</a:tr>
            </a:tbl>
          </a:graphicData>
        </a:graphic>
      </p:graphicFrame>
      <p:sp>
        <p:nvSpPr>
          <p:cNvPr id="15" name="Text 6"/>
          <p:cNvSpPr txBox="1"/>
          <p:nvPr/>
        </p:nvSpPr>
        <p:spPr>
          <a:xfrm>
            <a:off x="8247888" y="649224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21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" y="384048"/>
            <a:ext cx="50292" cy="475488"/>
          </a:xfrm>
          <a:prstGeom prst="rect">
            <a:avLst/>
          </a:prstGeom>
          <a:solidFill>
            <a:srgbClr val="294839"/>
          </a:solidFill>
          <a:ln w="12700">
            <a:solidFill>
              <a:srgbClr val="294839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21792" y="356616"/>
            <a:ext cx="10241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2435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品类 · 舒适优选 · 金额确认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91440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 套 · 平均每套 ¥136.00，平均值仅作展示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6382512"/>
            <a:ext cx="11000232" cy="13716"/>
          </a:xfrm>
          <a:prstGeom prst="rect">
            <a:avLst/>
          </a:prstGeom>
          <a:solidFill>
            <a:srgbClr val="DCE2D9"/>
          </a:solidFill>
          <a:ln w="12700">
            <a:solidFill>
              <a:srgbClr val="DCE2D9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6492240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织选  /  quote-mtwdign1-xblxo · V4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9418320" y="649224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演示数据 · 供原型评审</a:t>
            </a:r>
            <a:endParaRPr lang="en-US" sz="8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1527048"/>
          <a:ext cx="10972800" cy="411480"/>
        </p:xfrm>
        <a:graphic>
          <a:graphicData uri="http://schemas.openxmlformats.org/drawingml/2006/table">
            <a:tbl>
              <a:tblPr/>
              <a:tblGrid>
                <a:gridCol w="7589520"/>
                <a:gridCol w="33832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金额项目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48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人民币金额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483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1938528"/>
          <a:ext cx="10972800" cy="393192"/>
        </p:xfrm>
        <a:graphic>
          <a:graphicData uri="http://schemas.openxmlformats.org/drawingml/2006/table">
            <a:tbl>
              <a:tblPr/>
              <a:tblGrid>
                <a:gridCol w="7589520"/>
                <a:gridCol w="338328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商品合计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¥14,000.00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2331720"/>
          <a:ext cx="10972800" cy="393192"/>
        </p:xfrm>
        <a:graphic>
          <a:graphicData uri="http://schemas.openxmlformats.org/drawingml/2006/table">
            <a:tbl>
              <a:tblPr/>
              <a:tblGrid>
                <a:gridCol w="7589520"/>
                <a:gridCol w="338328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整单优惠（仅作用于商品合计）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 ¥700.00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2724912"/>
          <a:ext cx="10972800" cy="393192"/>
        </p:xfrm>
        <a:graphic>
          <a:graphicData uri="http://schemas.openxmlformats.org/drawingml/2006/table">
            <a:tbl>
              <a:tblPr/>
              <a:tblGrid>
                <a:gridCol w="7589520"/>
                <a:gridCol w="338328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附加费用 / 运费（已含税 / 不再加税）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¥300.00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3118104"/>
          <a:ext cx="10972800" cy="393192"/>
        </p:xfrm>
        <a:graphic>
          <a:graphicData uri="http://schemas.openxmlformats.org/drawingml/2006/table">
            <a:tbl>
              <a:tblPr/>
              <a:tblGrid>
                <a:gridCol w="7589520"/>
                <a:gridCol w="338328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本备选方案应付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¥13,600.00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</a:tr>
            </a:tbl>
          </a:graphicData>
        </a:graphic>
      </p:graphicFrame>
      <p:sp>
        <p:nvSpPr>
          <p:cNvPr id="13" name="Text 6"/>
          <p:cNvSpPr txBox="1"/>
          <p:nvPr/>
        </p:nvSpPr>
        <p:spPr>
          <a:xfrm>
            <a:off x="8247888" y="649224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21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" y="384048"/>
            <a:ext cx="50292" cy="475488"/>
          </a:xfrm>
          <a:prstGeom prst="rect">
            <a:avLst/>
          </a:prstGeom>
          <a:solidFill>
            <a:srgbClr val="294839"/>
          </a:solidFill>
          <a:ln w="12700">
            <a:solidFill>
              <a:srgbClr val="294839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21792" y="356616"/>
            <a:ext cx="10241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2435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品类 · 舒适优选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91440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品类 · 100 套 · 备选报价 · 客户任选，各方案独立核算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6382512"/>
            <a:ext cx="11000232" cy="13716"/>
          </a:xfrm>
          <a:prstGeom prst="rect">
            <a:avLst/>
          </a:prstGeom>
          <a:solidFill>
            <a:srgbClr val="DCE2D9"/>
          </a:solidFill>
          <a:ln w="12700">
            <a:solidFill>
              <a:srgbClr val="DCE2D9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6492240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织选  /  quote-mtwdign1-xblxo · V4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9418320" y="649224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演示数据 · 供原型评审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86384" y="1554480"/>
            <a:ext cx="3072384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0" descr="上衣 米杏珠地短袖 Pol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997964"/>
            <a:ext cx="2852928" cy="285292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932688" y="5285232"/>
            <a:ext cx="2779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435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上衣 · 米杏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932688" y="5495544"/>
            <a:ext cx="27797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SKU / 尺码与金额见明细页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069080" y="1554480"/>
            <a:ext cx="3072384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3" name="Image 1" descr="裤子 苔绿直筒休闲裤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2332" y="1664208"/>
            <a:ext cx="1325880" cy="132588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215384" y="3090672"/>
            <a:ext cx="2779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435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裤子 · 苔绿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4215384" y="3300984"/>
            <a:ext cx="27797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SKU / 尺码与金额见明细页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4069080" y="3721608"/>
            <a:ext cx="3072384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2" descr="帽子 苔绿简约棒球帽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8616" y="3831336"/>
            <a:ext cx="1353312" cy="135331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215384" y="5285232"/>
            <a:ext cx="2779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435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帽子 · 苔绿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4215384" y="5495544"/>
            <a:ext cx="27797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SKU / 尺码与金额见明细页</a:t>
            </a:r>
            <a:endParaRPr lang="en-US" sz="850" dirty="0"/>
          </a:p>
        </p:txBody>
      </p:sp>
      <p:sp>
        <p:nvSpPr>
          <p:cNvPr id="20" name="Text 15"/>
          <p:cNvSpPr txBox="1"/>
          <p:nvPr/>
        </p:nvSpPr>
        <p:spPr>
          <a:xfrm>
            <a:off x="7461504" y="1792224"/>
            <a:ext cx="3977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500" b="1" dirty="0">
                <a:solidFill>
                  <a:srgbClr val="2948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好搭配，</a:t>
            </a:r>
            <a:endParaRPr lang="en-US" sz="2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500" b="1" dirty="0">
                <a:solidFill>
                  <a:srgbClr val="2948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从真实商品开始。</a:t>
            </a:r>
            <a:endParaRPr lang="en-US" sz="2500" dirty="0"/>
          </a:p>
        </p:txBody>
      </p:sp>
      <p:sp>
        <p:nvSpPr>
          <p:cNvPr id="21" name="Text 16"/>
          <p:cNvSpPr txBox="1"/>
          <p:nvPr/>
        </p:nvSpPr>
        <p:spPr>
          <a:xfrm>
            <a:off x="7479792" y="3108960"/>
            <a:ext cx="39227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本方案采用商品原图拼版。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实际商品以 SKU 与规格明细为准。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7479792" y="4773168"/>
            <a:ext cx="3922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700" b="1" dirty="0">
                <a:solidFill>
                  <a:srgbClr val="2948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¥155.00</a:t>
            </a:r>
            <a:endParaRPr lang="en-US" sz="2700" dirty="0"/>
          </a:p>
        </p:txBody>
      </p:sp>
      <p:sp>
        <p:nvSpPr>
          <p:cNvPr id="23" name="Text 18"/>
          <p:cNvSpPr txBox="1"/>
          <p:nvPr/>
        </p:nvSpPr>
        <p:spPr>
          <a:xfrm>
            <a:off x="7479792" y="5358384"/>
            <a:ext cx="392277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平均每套 / 含费用   ·   应付 ¥15,500.00</a:t>
            </a:r>
            <a:endParaRPr lang="en-US" sz="1100" dirty="0"/>
          </a:p>
        </p:txBody>
      </p:sp>
      <p:sp>
        <p:nvSpPr>
          <p:cNvPr id="24" name="Text 19"/>
          <p:cNvSpPr txBox="1"/>
          <p:nvPr/>
        </p:nvSpPr>
        <p:spPr>
          <a:xfrm>
            <a:off x="8247888" y="649224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21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" y="384048"/>
            <a:ext cx="50292" cy="475488"/>
          </a:xfrm>
          <a:prstGeom prst="rect">
            <a:avLst/>
          </a:prstGeom>
          <a:solidFill>
            <a:srgbClr val="294839"/>
          </a:solidFill>
          <a:ln w="12700">
            <a:solidFill>
              <a:srgbClr val="294839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21792" y="356616"/>
            <a:ext cx="10241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2435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品类 · 舒适优选 · 搭配说明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91440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品类 · 方案 3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6382512"/>
            <a:ext cx="11000232" cy="13716"/>
          </a:xfrm>
          <a:prstGeom prst="rect">
            <a:avLst/>
          </a:prstGeom>
          <a:solidFill>
            <a:srgbClr val="DCE2D9"/>
          </a:solidFill>
          <a:ln w="12700">
            <a:solidFill>
              <a:srgbClr val="DCE2D9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6492240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织选  /  quote-mtwdign1-xblxo · V4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9418320" y="649224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演示数据 · 供原型评审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1536192"/>
            <a:ext cx="106527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2435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符合企业团建 / 休闲，优先保留基础款递进；锁定项可手动解锁调整。
商品：米杏珠地短袖 Polo（米杏）；苔绿直筒休闲裤（苔绿）；苔绿简约棒球帽（苔绿）
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47888" y="649224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21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" y="384048"/>
            <a:ext cx="50292" cy="475488"/>
          </a:xfrm>
          <a:prstGeom prst="rect">
            <a:avLst/>
          </a:prstGeom>
          <a:solidFill>
            <a:srgbClr val="294839"/>
          </a:solidFill>
          <a:ln w="12700">
            <a:solidFill>
              <a:srgbClr val="294839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21792" y="356616"/>
            <a:ext cx="10241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2435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品类 · 舒适优选 · SKU 报价明细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91440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人民币 · 含税销售价，不重复加税 · 数量为具体尺码采购量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6382512"/>
            <a:ext cx="11000232" cy="13716"/>
          </a:xfrm>
          <a:prstGeom prst="rect">
            <a:avLst/>
          </a:prstGeom>
          <a:solidFill>
            <a:srgbClr val="DCE2D9"/>
          </a:solidFill>
          <a:ln w="12700">
            <a:solidFill>
              <a:srgbClr val="DCE2D9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6492240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织选  /  quote-mtwdign1-xblxo · V4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9418320" y="649224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演示数据 · 供原型评审</a:t>
            </a:r>
            <a:endParaRPr lang="en-US" sz="8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1527048"/>
          <a:ext cx="10972800" cy="411480"/>
        </p:xfrm>
        <a:graphic>
          <a:graphicData uri="http://schemas.openxmlformats.org/drawingml/2006/table">
            <a:tbl>
              <a:tblPr/>
              <a:tblGrid>
                <a:gridCol w="2011680"/>
                <a:gridCol w="2788920"/>
                <a:gridCol w="1600200"/>
                <a:gridCol w="1188720"/>
                <a:gridCol w="1645920"/>
                <a:gridCol w="17373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SKU / 款号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48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商品名称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48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颜色 / 尺码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48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数量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48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销售单价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48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行金额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483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1938528"/>
          <a:ext cx="10972800" cy="393192"/>
        </p:xfrm>
        <a:graphic>
          <a:graphicData uri="http://schemas.openxmlformats.org/drawingml/2006/table">
            <a:tbl>
              <a:tblPr/>
              <a:tblGrid>
                <a:gridCol w="2011680"/>
                <a:gridCol w="2788920"/>
                <a:gridCol w="1600200"/>
                <a:gridCol w="1188720"/>
                <a:gridCol w="1645920"/>
                <a:gridCol w="173736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ZX-11-M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米杏珠地短袖 Polo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米杏 / M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34 件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¥80.00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¥2,720.00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2331720"/>
          <a:ext cx="10972800" cy="393192"/>
        </p:xfrm>
        <a:graphic>
          <a:graphicData uri="http://schemas.openxmlformats.org/drawingml/2006/table">
            <a:tbl>
              <a:tblPr/>
              <a:tblGrid>
                <a:gridCol w="2011680"/>
                <a:gridCol w="2788920"/>
                <a:gridCol w="1600200"/>
                <a:gridCol w="1188720"/>
                <a:gridCol w="1645920"/>
                <a:gridCol w="173736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ZX-11-L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米杏珠地短袖 Polo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米杏 / L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33 件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¥80.00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¥2,640.00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2724912"/>
          <a:ext cx="10972800" cy="393192"/>
        </p:xfrm>
        <a:graphic>
          <a:graphicData uri="http://schemas.openxmlformats.org/drawingml/2006/table">
            <a:tbl>
              <a:tblPr/>
              <a:tblGrid>
                <a:gridCol w="2011680"/>
                <a:gridCol w="2788920"/>
                <a:gridCol w="1600200"/>
                <a:gridCol w="1188720"/>
                <a:gridCol w="1645920"/>
                <a:gridCol w="173736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ZX-11-XL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米杏珠地短袖 Polo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米杏 / XL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33 件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¥80.00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¥2,640.00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3118104"/>
          <a:ext cx="10972800" cy="393192"/>
        </p:xfrm>
        <a:graphic>
          <a:graphicData uri="http://schemas.openxmlformats.org/drawingml/2006/table">
            <a:tbl>
              <a:tblPr/>
              <a:tblGrid>
                <a:gridCol w="2011680"/>
                <a:gridCol w="2788920"/>
                <a:gridCol w="1600200"/>
                <a:gridCol w="1188720"/>
                <a:gridCol w="1645920"/>
                <a:gridCol w="173736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ZX-12-M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苔绿直筒休闲裤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苔绿 / M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34 件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¥60.00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¥2,040.00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5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3511296"/>
          <a:ext cx="10972800" cy="393192"/>
        </p:xfrm>
        <a:graphic>
          <a:graphicData uri="http://schemas.openxmlformats.org/drawingml/2006/table">
            <a:tbl>
              <a:tblPr/>
              <a:tblGrid>
                <a:gridCol w="2011680"/>
                <a:gridCol w="2788920"/>
                <a:gridCol w="1600200"/>
                <a:gridCol w="1188720"/>
                <a:gridCol w="1645920"/>
                <a:gridCol w="173736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ZX-12-L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苔绿直筒休闲裤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苔绿 / L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33 件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¥60.00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¥1,980.00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9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3904488"/>
          <a:ext cx="10972800" cy="393192"/>
        </p:xfrm>
        <a:graphic>
          <a:graphicData uri="http://schemas.openxmlformats.org/drawingml/2006/table">
            <a:tbl>
              <a:tblPr/>
              <a:tblGrid>
                <a:gridCol w="2011680"/>
                <a:gridCol w="2788920"/>
                <a:gridCol w="1600200"/>
                <a:gridCol w="1188720"/>
                <a:gridCol w="1645920"/>
                <a:gridCol w="173736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ZX-12-XL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苔绿直筒休闲裤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苔绿 / XL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33 件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¥60.00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¥1,980.00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3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4297680"/>
          <a:ext cx="10972800" cy="393192"/>
        </p:xfrm>
        <a:graphic>
          <a:graphicData uri="http://schemas.openxmlformats.org/drawingml/2006/table">
            <a:tbl>
              <a:tblPr/>
              <a:tblGrid>
                <a:gridCol w="2011680"/>
                <a:gridCol w="2788920"/>
                <a:gridCol w="1600200"/>
                <a:gridCol w="1188720"/>
                <a:gridCol w="1645920"/>
                <a:gridCol w="173736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ZX-13-均码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苔绿简约棒球帽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苔绿 / 均码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 顶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¥20.00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¥2,000.00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 6"/>
          <p:cNvSpPr txBox="1"/>
          <p:nvPr/>
        </p:nvSpPr>
        <p:spPr>
          <a:xfrm>
            <a:off x="8247888" y="649224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/ 21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" y="384048"/>
            <a:ext cx="50292" cy="475488"/>
          </a:xfrm>
          <a:prstGeom prst="rect">
            <a:avLst/>
          </a:prstGeom>
          <a:solidFill>
            <a:srgbClr val="294839"/>
          </a:solidFill>
          <a:ln w="12700">
            <a:solidFill>
              <a:srgbClr val="294839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21792" y="356616"/>
            <a:ext cx="10241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2435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品类 · 舒适优选 · 金额确认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91440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 套 · 平均每套 ¥155.00，平均值仅作展示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6382512"/>
            <a:ext cx="11000232" cy="13716"/>
          </a:xfrm>
          <a:prstGeom prst="rect">
            <a:avLst/>
          </a:prstGeom>
          <a:solidFill>
            <a:srgbClr val="DCE2D9"/>
          </a:solidFill>
          <a:ln w="12700">
            <a:solidFill>
              <a:srgbClr val="DCE2D9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6492240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织选  /  quote-mtwdign1-xblxo · V4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9418320" y="649224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演示数据 · 供原型评审</a:t>
            </a:r>
            <a:endParaRPr lang="en-US" sz="8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1527048"/>
          <a:ext cx="10972800" cy="411480"/>
        </p:xfrm>
        <a:graphic>
          <a:graphicData uri="http://schemas.openxmlformats.org/drawingml/2006/table">
            <a:tbl>
              <a:tblPr/>
              <a:tblGrid>
                <a:gridCol w="7589520"/>
                <a:gridCol w="33832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金额项目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48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人民币金额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483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1938528"/>
          <a:ext cx="10972800" cy="393192"/>
        </p:xfrm>
        <a:graphic>
          <a:graphicData uri="http://schemas.openxmlformats.org/drawingml/2006/table">
            <a:tbl>
              <a:tblPr/>
              <a:tblGrid>
                <a:gridCol w="7589520"/>
                <a:gridCol w="338328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商品合计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¥16,000.00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2331720"/>
          <a:ext cx="10972800" cy="393192"/>
        </p:xfrm>
        <a:graphic>
          <a:graphicData uri="http://schemas.openxmlformats.org/drawingml/2006/table">
            <a:tbl>
              <a:tblPr/>
              <a:tblGrid>
                <a:gridCol w="7589520"/>
                <a:gridCol w="338328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整单优惠（仅作用于商品合计）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 ¥800.00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2724912"/>
          <a:ext cx="10972800" cy="393192"/>
        </p:xfrm>
        <a:graphic>
          <a:graphicData uri="http://schemas.openxmlformats.org/drawingml/2006/table">
            <a:tbl>
              <a:tblPr/>
              <a:tblGrid>
                <a:gridCol w="7589520"/>
                <a:gridCol w="338328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附加费用 / 运费（已含税 / 不再加税）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¥300.00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3118104"/>
          <a:ext cx="10972800" cy="393192"/>
        </p:xfrm>
        <a:graphic>
          <a:graphicData uri="http://schemas.openxmlformats.org/drawingml/2006/table">
            <a:tbl>
              <a:tblPr/>
              <a:tblGrid>
                <a:gridCol w="7589520"/>
                <a:gridCol w="338328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本备选方案应付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¥15,500.00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</a:tr>
            </a:tbl>
          </a:graphicData>
        </a:graphic>
      </p:graphicFrame>
      <p:sp>
        <p:nvSpPr>
          <p:cNvPr id="13" name="Text 6"/>
          <p:cNvSpPr txBox="1"/>
          <p:nvPr/>
        </p:nvSpPr>
        <p:spPr>
          <a:xfrm>
            <a:off x="8247888" y="649224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/ 21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" y="384048"/>
            <a:ext cx="50292" cy="475488"/>
          </a:xfrm>
          <a:prstGeom prst="rect">
            <a:avLst/>
          </a:prstGeom>
          <a:solidFill>
            <a:srgbClr val="294839"/>
          </a:solidFill>
          <a:ln w="12700">
            <a:solidFill>
              <a:srgbClr val="294839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21792" y="356616"/>
            <a:ext cx="10241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2435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品类 · 舒适优选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91440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品类 · 100 套 · 备选报价 · 客户任选，各方案独立核算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6382512"/>
            <a:ext cx="11000232" cy="13716"/>
          </a:xfrm>
          <a:prstGeom prst="rect">
            <a:avLst/>
          </a:prstGeom>
          <a:solidFill>
            <a:srgbClr val="DCE2D9"/>
          </a:solidFill>
          <a:ln w="12700">
            <a:solidFill>
              <a:srgbClr val="DCE2D9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6492240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织选  /  quote-mtwdign1-xblxo · V4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9418320" y="649224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演示数据 · 供原型评审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86384" y="1554480"/>
            <a:ext cx="3072384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0" descr="上衣 米杏珠地短袖 Pol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9636" y="1664208"/>
            <a:ext cx="1325880" cy="132588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932688" y="3090672"/>
            <a:ext cx="2779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435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上衣 · 米杏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932688" y="3300984"/>
            <a:ext cx="27797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SKU / 尺码与金额见明细页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069080" y="1554480"/>
            <a:ext cx="3072384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3" name="Image 1" descr="裤子 苔绿直筒休闲裤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2332" y="1664208"/>
            <a:ext cx="1325880" cy="132588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215384" y="3090672"/>
            <a:ext cx="2779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435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裤子 · 苔绿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4215384" y="3300984"/>
            <a:ext cx="27797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SKU / 尺码与金额见明细页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786384" y="3721608"/>
            <a:ext cx="3072384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2" descr="帽子 苔绿简约棒球帽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3831336"/>
            <a:ext cx="1353312" cy="135331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32688" y="5285232"/>
            <a:ext cx="2779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435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帽子 · 苔绿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932688" y="5495544"/>
            <a:ext cx="27797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SKU / 尺码与金额见明细页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4069080" y="3721608"/>
            <a:ext cx="3072384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1" name="Image 3" descr="鞋 米白轻量休闲鞋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8616" y="3831336"/>
            <a:ext cx="1353312" cy="135331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4215384" y="5285232"/>
            <a:ext cx="2779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435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鞋 · 米白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4215384" y="5495544"/>
            <a:ext cx="27797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SKU / 尺码与金额见明细页</a:t>
            </a:r>
            <a:endParaRPr lang="en-US" sz="850" dirty="0"/>
          </a:p>
        </p:txBody>
      </p:sp>
      <p:sp>
        <p:nvSpPr>
          <p:cNvPr id="24" name="Text 18"/>
          <p:cNvSpPr txBox="1"/>
          <p:nvPr/>
        </p:nvSpPr>
        <p:spPr>
          <a:xfrm>
            <a:off x="7461504" y="1792224"/>
            <a:ext cx="3977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500" b="1" dirty="0">
                <a:solidFill>
                  <a:srgbClr val="2948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好搭配，</a:t>
            </a:r>
            <a:endParaRPr lang="en-US" sz="2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500" b="1" dirty="0">
                <a:solidFill>
                  <a:srgbClr val="2948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从真实商品开始。</a:t>
            </a:r>
            <a:endParaRPr lang="en-US" sz="2500" dirty="0"/>
          </a:p>
        </p:txBody>
      </p:sp>
      <p:sp>
        <p:nvSpPr>
          <p:cNvPr id="25" name="Text 19"/>
          <p:cNvSpPr txBox="1"/>
          <p:nvPr/>
        </p:nvSpPr>
        <p:spPr>
          <a:xfrm>
            <a:off x="7479792" y="3108960"/>
            <a:ext cx="39227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本方案采用商品原图拼版。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实际商品以 SKU 与规格明细为准。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7479792" y="4773168"/>
            <a:ext cx="3922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700" b="1" dirty="0">
                <a:solidFill>
                  <a:srgbClr val="2948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¥240.50</a:t>
            </a:r>
            <a:endParaRPr lang="en-US" sz="2700" dirty="0"/>
          </a:p>
        </p:txBody>
      </p:sp>
      <p:sp>
        <p:nvSpPr>
          <p:cNvPr id="27" name="Text 21"/>
          <p:cNvSpPr txBox="1"/>
          <p:nvPr/>
        </p:nvSpPr>
        <p:spPr>
          <a:xfrm>
            <a:off x="7479792" y="5358384"/>
            <a:ext cx="392277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平均每套 / 含费用   ·   应付 ¥24,050.00</a:t>
            </a:r>
            <a:endParaRPr lang="en-US" sz="1100" dirty="0"/>
          </a:p>
        </p:txBody>
      </p:sp>
      <p:sp>
        <p:nvSpPr>
          <p:cNvPr id="28" name="Text 22"/>
          <p:cNvSpPr txBox="1"/>
          <p:nvPr/>
        </p:nvSpPr>
        <p:spPr>
          <a:xfrm>
            <a:off x="8247888" y="649224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/ 21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" y="384048"/>
            <a:ext cx="50292" cy="475488"/>
          </a:xfrm>
          <a:prstGeom prst="rect">
            <a:avLst/>
          </a:prstGeom>
          <a:solidFill>
            <a:srgbClr val="294839"/>
          </a:solidFill>
          <a:ln w="12700">
            <a:solidFill>
              <a:srgbClr val="294839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21792" y="356616"/>
            <a:ext cx="10241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2435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品类 · 舒适优选 · 搭配说明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91440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品类 · 方案 4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6382512"/>
            <a:ext cx="11000232" cy="13716"/>
          </a:xfrm>
          <a:prstGeom prst="rect">
            <a:avLst/>
          </a:prstGeom>
          <a:solidFill>
            <a:srgbClr val="DCE2D9"/>
          </a:solidFill>
          <a:ln w="12700">
            <a:solidFill>
              <a:srgbClr val="DCE2D9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6492240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织选  /  quote-mtwdign1-xblxo · V4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9418320" y="649224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演示数据 · 供原型评审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1536192"/>
            <a:ext cx="106527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2435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符合企业团建 / 休闲，优先保留基础款递进；锁定项可手动解锁调整。
商品：米杏珠地短袖 Polo（米杏）；苔绿直筒休闲裤（苔绿）；苔绿简约棒球帽（苔绿）；米白轻量休闲鞋（米
白）
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47888" y="649224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 / 21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" y="384048"/>
            <a:ext cx="50292" cy="475488"/>
          </a:xfrm>
          <a:prstGeom prst="rect">
            <a:avLst/>
          </a:prstGeom>
          <a:solidFill>
            <a:srgbClr val="294839"/>
          </a:solidFill>
          <a:ln w="12700">
            <a:solidFill>
              <a:srgbClr val="294839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21792" y="356616"/>
            <a:ext cx="10241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2435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品类 · 舒适优选 · SKU 报价明细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91440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人民币 · 含税销售价，不重复加税 · 数量为具体尺码采购量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6382512"/>
            <a:ext cx="11000232" cy="13716"/>
          </a:xfrm>
          <a:prstGeom prst="rect">
            <a:avLst/>
          </a:prstGeom>
          <a:solidFill>
            <a:srgbClr val="DCE2D9"/>
          </a:solidFill>
          <a:ln w="12700">
            <a:solidFill>
              <a:srgbClr val="DCE2D9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6492240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织选  /  quote-mtwdign1-xblxo · V4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9418320" y="649224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演示数据 · 供原型评审</a:t>
            </a:r>
            <a:endParaRPr lang="en-US" sz="8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1527048"/>
          <a:ext cx="10972800" cy="411480"/>
        </p:xfrm>
        <a:graphic>
          <a:graphicData uri="http://schemas.openxmlformats.org/drawingml/2006/table">
            <a:tbl>
              <a:tblPr/>
              <a:tblGrid>
                <a:gridCol w="2011680"/>
                <a:gridCol w="2788920"/>
                <a:gridCol w="1600200"/>
                <a:gridCol w="1188720"/>
                <a:gridCol w="1645920"/>
                <a:gridCol w="17373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SKU / 款号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48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商品名称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48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颜色 / 尺码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48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数量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48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销售单价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48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行金额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483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1938528"/>
          <a:ext cx="10972800" cy="393192"/>
        </p:xfrm>
        <a:graphic>
          <a:graphicData uri="http://schemas.openxmlformats.org/drawingml/2006/table">
            <a:tbl>
              <a:tblPr/>
              <a:tblGrid>
                <a:gridCol w="2011680"/>
                <a:gridCol w="2788920"/>
                <a:gridCol w="1600200"/>
                <a:gridCol w="1188720"/>
                <a:gridCol w="1645920"/>
                <a:gridCol w="173736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ZX-11-M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米杏珠地短袖 Polo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米杏 / M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34 件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¥80.00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¥2,720.00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2331720"/>
          <a:ext cx="10972800" cy="393192"/>
        </p:xfrm>
        <a:graphic>
          <a:graphicData uri="http://schemas.openxmlformats.org/drawingml/2006/table">
            <a:tbl>
              <a:tblPr/>
              <a:tblGrid>
                <a:gridCol w="2011680"/>
                <a:gridCol w="2788920"/>
                <a:gridCol w="1600200"/>
                <a:gridCol w="1188720"/>
                <a:gridCol w="1645920"/>
                <a:gridCol w="173736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ZX-11-L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米杏珠地短袖 Polo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米杏 / L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33 件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¥80.00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¥2,640.00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2724912"/>
          <a:ext cx="10972800" cy="393192"/>
        </p:xfrm>
        <a:graphic>
          <a:graphicData uri="http://schemas.openxmlformats.org/drawingml/2006/table">
            <a:tbl>
              <a:tblPr/>
              <a:tblGrid>
                <a:gridCol w="2011680"/>
                <a:gridCol w="2788920"/>
                <a:gridCol w="1600200"/>
                <a:gridCol w="1188720"/>
                <a:gridCol w="1645920"/>
                <a:gridCol w="173736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ZX-11-XL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米杏珠地短袖 Polo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米杏 / XL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33 件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¥80.00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¥2,640.00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3118104"/>
          <a:ext cx="10972800" cy="393192"/>
        </p:xfrm>
        <a:graphic>
          <a:graphicData uri="http://schemas.openxmlformats.org/drawingml/2006/table">
            <a:tbl>
              <a:tblPr/>
              <a:tblGrid>
                <a:gridCol w="2011680"/>
                <a:gridCol w="2788920"/>
                <a:gridCol w="1600200"/>
                <a:gridCol w="1188720"/>
                <a:gridCol w="1645920"/>
                <a:gridCol w="173736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ZX-12-M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苔绿直筒休闲裤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苔绿 / M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34 件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¥60.00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¥2,040.00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9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3511296"/>
          <a:ext cx="10972800" cy="393192"/>
        </p:xfrm>
        <a:graphic>
          <a:graphicData uri="http://schemas.openxmlformats.org/drawingml/2006/table">
            <a:tbl>
              <a:tblPr/>
              <a:tblGrid>
                <a:gridCol w="2011680"/>
                <a:gridCol w="2788920"/>
                <a:gridCol w="1600200"/>
                <a:gridCol w="1188720"/>
                <a:gridCol w="1645920"/>
                <a:gridCol w="173736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ZX-12-L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苔绿直筒休闲裤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苔绿 / L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33 件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¥60.00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¥1,980.00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3904488"/>
          <a:ext cx="10972800" cy="393192"/>
        </p:xfrm>
        <a:graphic>
          <a:graphicData uri="http://schemas.openxmlformats.org/drawingml/2006/table">
            <a:tbl>
              <a:tblPr/>
              <a:tblGrid>
                <a:gridCol w="2011680"/>
                <a:gridCol w="2788920"/>
                <a:gridCol w="1600200"/>
                <a:gridCol w="1188720"/>
                <a:gridCol w="1645920"/>
                <a:gridCol w="173736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ZX-12-XL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苔绿直筒休闲裤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苔绿 / XL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33 件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¥60.00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¥1,980.00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5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4297680"/>
          <a:ext cx="10972800" cy="393192"/>
        </p:xfrm>
        <a:graphic>
          <a:graphicData uri="http://schemas.openxmlformats.org/drawingml/2006/table">
            <a:tbl>
              <a:tblPr/>
              <a:tblGrid>
                <a:gridCol w="2011680"/>
                <a:gridCol w="2788920"/>
                <a:gridCol w="1600200"/>
                <a:gridCol w="1188720"/>
                <a:gridCol w="1645920"/>
                <a:gridCol w="173736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ZX-13-均码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苔绿简约棒球帽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苔绿 / 均码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 顶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¥20.00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¥2,000.00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3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4690872"/>
          <a:ext cx="10972800" cy="393192"/>
        </p:xfrm>
        <a:graphic>
          <a:graphicData uri="http://schemas.openxmlformats.org/drawingml/2006/table">
            <a:tbl>
              <a:tblPr/>
              <a:tblGrid>
                <a:gridCol w="2011680"/>
                <a:gridCol w="2788920"/>
                <a:gridCol w="1600200"/>
                <a:gridCol w="1188720"/>
                <a:gridCol w="1645920"/>
                <a:gridCol w="173736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ZX-14-39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米白轻量休闲鞋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米白 / 39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 双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¥90.00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¥1,800.00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1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5084064"/>
          <a:ext cx="10972800" cy="393192"/>
        </p:xfrm>
        <a:graphic>
          <a:graphicData uri="http://schemas.openxmlformats.org/drawingml/2006/table">
            <a:tbl>
              <a:tblPr/>
              <a:tblGrid>
                <a:gridCol w="2011680"/>
                <a:gridCol w="2788920"/>
                <a:gridCol w="1600200"/>
                <a:gridCol w="1188720"/>
                <a:gridCol w="1645920"/>
                <a:gridCol w="173736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ZX-14-40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米白轻量休闲鞋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米白 / 40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 双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¥90.00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¥1,800.00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9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5477256"/>
          <a:ext cx="10972800" cy="393192"/>
        </p:xfrm>
        <a:graphic>
          <a:graphicData uri="http://schemas.openxmlformats.org/drawingml/2006/table">
            <a:tbl>
              <a:tblPr/>
              <a:tblGrid>
                <a:gridCol w="2011680"/>
                <a:gridCol w="2788920"/>
                <a:gridCol w="1600200"/>
                <a:gridCol w="1188720"/>
                <a:gridCol w="1645920"/>
                <a:gridCol w="173736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ZX-14-41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米白轻量休闲鞋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米白 / 41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 双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¥90.00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¥1,800.00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</a:tr>
            </a:tbl>
          </a:graphicData>
        </a:graphic>
      </p:graphicFrame>
      <p:sp>
        <p:nvSpPr>
          <p:cNvPr id="19" name="Text 6"/>
          <p:cNvSpPr txBox="1"/>
          <p:nvPr/>
        </p:nvSpPr>
        <p:spPr>
          <a:xfrm>
            <a:off x="8247888" y="649224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/ 21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" y="384048"/>
            <a:ext cx="50292" cy="475488"/>
          </a:xfrm>
          <a:prstGeom prst="rect">
            <a:avLst/>
          </a:prstGeom>
          <a:solidFill>
            <a:srgbClr val="294839"/>
          </a:solidFill>
          <a:ln w="12700">
            <a:solidFill>
              <a:srgbClr val="294839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21792" y="356616"/>
            <a:ext cx="10241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2435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品类 · 舒适优选 · SKU 报价明细（续 1）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91440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人民币 · 含税销售价，不重复加税 · 数量为具体尺码采购量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6382512"/>
            <a:ext cx="11000232" cy="13716"/>
          </a:xfrm>
          <a:prstGeom prst="rect">
            <a:avLst/>
          </a:prstGeom>
          <a:solidFill>
            <a:srgbClr val="DCE2D9"/>
          </a:solidFill>
          <a:ln w="12700">
            <a:solidFill>
              <a:srgbClr val="DCE2D9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6492240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织选  /  quote-mtwdign1-xblxo · V4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9418320" y="649224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演示数据 · 供原型评审</a:t>
            </a:r>
            <a:endParaRPr lang="en-US" sz="8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1527048"/>
          <a:ext cx="10972800" cy="411480"/>
        </p:xfrm>
        <a:graphic>
          <a:graphicData uri="http://schemas.openxmlformats.org/drawingml/2006/table">
            <a:tbl>
              <a:tblPr/>
              <a:tblGrid>
                <a:gridCol w="2011680"/>
                <a:gridCol w="2788920"/>
                <a:gridCol w="1600200"/>
                <a:gridCol w="1188720"/>
                <a:gridCol w="1645920"/>
                <a:gridCol w="17373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SKU / 款号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48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商品名称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48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颜色 / 尺码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48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数量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48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销售单价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48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行金额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483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1938528"/>
          <a:ext cx="10972800" cy="393192"/>
        </p:xfrm>
        <a:graphic>
          <a:graphicData uri="http://schemas.openxmlformats.org/drawingml/2006/table">
            <a:tbl>
              <a:tblPr/>
              <a:tblGrid>
                <a:gridCol w="2011680"/>
                <a:gridCol w="2788920"/>
                <a:gridCol w="1600200"/>
                <a:gridCol w="1188720"/>
                <a:gridCol w="1645920"/>
                <a:gridCol w="173736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ZX-14-42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米白轻量休闲鞋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米白 / 42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 双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¥90.00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¥1,800.00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8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2331720"/>
          <a:ext cx="10972800" cy="393192"/>
        </p:xfrm>
        <a:graphic>
          <a:graphicData uri="http://schemas.openxmlformats.org/drawingml/2006/table">
            <a:tbl>
              <a:tblPr/>
              <a:tblGrid>
                <a:gridCol w="2011680"/>
                <a:gridCol w="2788920"/>
                <a:gridCol w="1600200"/>
                <a:gridCol w="1188720"/>
                <a:gridCol w="1645920"/>
                <a:gridCol w="173736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ZX-14-43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米白轻量休闲鞋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米白 / 43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 双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¥90.00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¥1,800.00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</a:tr>
            </a:tbl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8247888" y="649224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 / 21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" y="384048"/>
            <a:ext cx="50292" cy="475488"/>
          </a:xfrm>
          <a:prstGeom prst="rect">
            <a:avLst/>
          </a:prstGeom>
          <a:solidFill>
            <a:srgbClr val="294839"/>
          </a:solidFill>
          <a:ln w="12700">
            <a:solidFill>
              <a:srgbClr val="294839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21792" y="356616"/>
            <a:ext cx="10241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2435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品类 · 舒适优选 · 金额确认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91440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 套 · 平均每套 ¥240.50，平均值仅作展示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6382512"/>
            <a:ext cx="11000232" cy="13716"/>
          </a:xfrm>
          <a:prstGeom prst="rect">
            <a:avLst/>
          </a:prstGeom>
          <a:solidFill>
            <a:srgbClr val="DCE2D9"/>
          </a:solidFill>
          <a:ln w="12700">
            <a:solidFill>
              <a:srgbClr val="DCE2D9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6492240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织选  /  quote-mtwdign1-xblxo · V4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9418320" y="649224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演示数据 · 供原型评审</a:t>
            </a:r>
            <a:endParaRPr lang="en-US" sz="8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1527048"/>
          <a:ext cx="10972800" cy="411480"/>
        </p:xfrm>
        <a:graphic>
          <a:graphicData uri="http://schemas.openxmlformats.org/drawingml/2006/table">
            <a:tbl>
              <a:tblPr/>
              <a:tblGrid>
                <a:gridCol w="7589520"/>
                <a:gridCol w="33832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金额项目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483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人民币金额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483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1938528"/>
          <a:ext cx="10972800" cy="393192"/>
        </p:xfrm>
        <a:graphic>
          <a:graphicData uri="http://schemas.openxmlformats.org/drawingml/2006/table">
            <a:tbl>
              <a:tblPr/>
              <a:tblGrid>
                <a:gridCol w="7589520"/>
                <a:gridCol w="338328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商品合计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¥25,000.00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1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2331720"/>
          <a:ext cx="10972800" cy="393192"/>
        </p:xfrm>
        <a:graphic>
          <a:graphicData uri="http://schemas.openxmlformats.org/drawingml/2006/table">
            <a:tbl>
              <a:tblPr/>
              <a:tblGrid>
                <a:gridCol w="7589520"/>
                <a:gridCol w="338328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整单优惠（仅作用于商品合计）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 ¥1,250.00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2724912"/>
          <a:ext cx="10972800" cy="393192"/>
        </p:xfrm>
        <a:graphic>
          <a:graphicData uri="http://schemas.openxmlformats.org/drawingml/2006/table">
            <a:tbl>
              <a:tblPr/>
              <a:tblGrid>
                <a:gridCol w="7589520"/>
                <a:gridCol w="338328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附加费用 / 运费（已含税 / 不再加税）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¥300.00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3118104"/>
          <a:ext cx="10972800" cy="393192"/>
        </p:xfrm>
        <a:graphic>
          <a:graphicData uri="http://schemas.openxmlformats.org/drawingml/2006/table">
            <a:tbl>
              <a:tblPr/>
              <a:tblGrid>
                <a:gridCol w="7589520"/>
                <a:gridCol w="338328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本备选方案应付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4352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¥24,050.00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4008" marR="64008" marT="64008" marB="36576" anchor="mid">
                    <a:lnL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E7"/>
                    </a:solidFill>
                  </a:tcPr>
                </a:tc>
              </a:tr>
            </a:tbl>
          </a:graphicData>
        </a:graphic>
      </p:graphicFrame>
      <p:sp>
        <p:nvSpPr>
          <p:cNvPr id="13" name="Text 6"/>
          <p:cNvSpPr txBox="1"/>
          <p:nvPr/>
        </p:nvSpPr>
        <p:spPr>
          <a:xfrm>
            <a:off x="8247888" y="649224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/ 21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" y="384048"/>
            <a:ext cx="50292" cy="475488"/>
          </a:xfrm>
          <a:prstGeom prst="rect">
            <a:avLst/>
          </a:prstGeom>
          <a:solidFill>
            <a:srgbClr val="294839"/>
          </a:solidFill>
          <a:ln w="12700">
            <a:solidFill>
              <a:srgbClr val="294839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21792" y="356616"/>
            <a:ext cx="10241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2435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商务说明与联系方式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91440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报价有效期与库存核对时间分别记录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6382512"/>
            <a:ext cx="11000232" cy="13716"/>
          </a:xfrm>
          <a:prstGeom prst="rect">
            <a:avLst/>
          </a:prstGeom>
          <a:solidFill>
            <a:srgbClr val="DCE2D9"/>
          </a:solidFill>
          <a:ln w="12700">
            <a:solidFill>
              <a:srgbClr val="DCE2D9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6492240"/>
            <a:ext cx="7680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织选  /  quote-mtwdign1-xblxo · V4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9418320" y="6492240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演示数据 · 供原型评审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1536192"/>
            <a:ext cx="106527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2435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报价日期：2026/9/11 11:05:11；有效至：2026/9/18 11:05:11。
库存核对时间：2026/9/11 11:05:10；价格版本 P1，库存版本 S1。报价不预占库存，正式订货时须再次确认可售
数量与交期。
图片说明：采用商品原图拼版。 实际商品以原图、SKU、颜色和尺码规格为准。
对客备注：现货报价，以订单确认时库存为准。
联系：销售顾问 林亦（示例） / 400-000-0000。
原型评审说明：本文件使用演示商品数据与示意素材，不构成真实供货承诺。
企业模板：V1。本次文件对应固定报价快照，外部编辑不会自动回写系统。
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47888" y="649224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D6E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 / 21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织选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森禾 · 秋季团建服装方案</dc:title>
  <dc:subject>演示商品报价 · 固定报价版本</dc:subject>
  <dc:creator>织选</dc:creator>
  <cp:lastModifiedBy>织选</cp:lastModifiedBy>
  <cp:revision>1</cp:revision>
  <dcterms:created xsi:type="dcterms:W3CDTF">2026-09-11T03:05:18Z</dcterms:created>
  <dcterms:modified xsi:type="dcterms:W3CDTF">2026-09-11T03:05:18Z</dcterms:modified>
</cp:coreProperties>
</file>